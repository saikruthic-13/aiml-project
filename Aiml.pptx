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68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8288000" cy="10287000"/>
  <p:notesSz cx="6858000" cy="9144000"/>
  <p:embeddedFontLst>
    <p:embeddedFont>
      <p:font typeface="Alice" panose="020B0604020202020204" charset="0"/>
      <p:regular r:id="rId15"/>
    </p:embeddedFont>
    <p:embeddedFont>
      <p:font typeface="Calibri (MS)" panose="020B0604020202020204" charset="0"/>
      <p:regular r:id="rId16"/>
    </p:embeddedFont>
    <p:embeddedFont>
      <p:font typeface="Lora" pitchFamily="2" charset="0"/>
      <p:regular r:id="rId17"/>
      <p:bold r:id="rId18"/>
    </p:embeddedFont>
    <p:embeddedFont>
      <p:font typeface="Lora Bold" charset="0"/>
      <p:regular r:id="rId19"/>
      <p:bold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802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hyperlink" Target="https://euphonious-snickerdoodle-930e8b.netlify.app/" TargetMode="Externa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1F2DE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CFBF8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430000" y="3572"/>
            <a:ext cx="6858000" cy="10287000"/>
            <a:chOff x="0" y="0"/>
            <a:chExt cx="91440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92238" y="3885896"/>
            <a:ext cx="8611638" cy="914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dirty="0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AI Career Guidance System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5486552"/>
            <a:ext cx="9445523" cy="53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Helping students make smart choices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1F2DE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CFBF8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04932" y="1436272"/>
            <a:ext cx="8579796" cy="914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dirty="0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The Problem Students Face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92242" y="4055497"/>
            <a:ext cx="5245446" cy="3675012"/>
            <a:chOff x="0" y="0"/>
            <a:chExt cx="6993928" cy="490001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993890" cy="4899914"/>
            </a:xfrm>
            <a:custGeom>
              <a:avLst/>
              <a:gdLst/>
              <a:ahLst/>
              <a:cxnLst/>
              <a:rect l="l" t="t" r="r" b="b"/>
              <a:pathLst>
                <a:path w="6993890" h="4899914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6937248" y="0"/>
                  </a:lnTo>
                  <a:cubicBezTo>
                    <a:pt x="6968617" y="0"/>
                    <a:pt x="6993890" y="25400"/>
                    <a:pt x="6993890" y="56642"/>
                  </a:cubicBezTo>
                  <a:lnTo>
                    <a:pt x="6993890" y="4843272"/>
                  </a:lnTo>
                  <a:cubicBezTo>
                    <a:pt x="6993890" y="4874641"/>
                    <a:pt x="6968490" y="4899914"/>
                    <a:pt x="6937248" y="4899914"/>
                  </a:cubicBezTo>
                  <a:lnTo>
                    <a:pt x="56642" y="4899914"/>
                  </a:lnTo>
                  <a:cubicBezTo>
                    <a:pt x="25273" y="4899914"/>
                    <a:pt x="0" y="4874514"/>
                    <a:pt x="0" y="4843272"/>
                  </a:cubicBezTo>
                  <a:close/>
                </a:path>
              </a:pathLst>
            </a:custGeom>
            <a:solidFill>
              <a:srgbClr val="F0EDE6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275759" y="5421516"/>
            <a:ext cx="3544043" cy="47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Career-Interest Gap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75759" y="5977385"/>
            <a:ext cx="4678413" cy="144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Students often find it hard to match their grades and interests with real jobs.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6521206" y="4032494"/>
            <a:ext cx="5245446" cy="3675012"/>
            <a:chOff x="0" y="0"/>
            <a:chExt cx="6993928" cy="490001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993890" cy="4899914"/>
            </a:xfrm>
            <a:custGeom>
              <a:avLst/>
              <a:gdLst/>
              <a:ahLst/>
              <a:cxnLst/>
              <a:rect l="l" t="t" r="r" b="b"/>
              <a:pathLst>
                <a:path w="6993890" h="4899914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6937248" y="0"/>
                  </a:lnTo>
                  <a:cubicBezTo>
                    <a:pt x="6968617" y="0"/>
                    <a:pt x="6993890" y="25400"/>
                    <a:pt x="6993890" y="56642"/>
                  </a:cubicBezTo>
                  <a:lnTo>
                    <a:pt x="6993890" y="4843272"/>
                  </a:lnTo>
                  <a:cubicBezTo>
                    <a:pt x="6993890" y="4874641"/>
                    <a:pt x="6968490" y="4899914"/>
                    <a:pt x="6937248" y="4899914"/>
                  </a:cubicBezTo>
                  <a:lnTo>
                    <a:pt x="56642" y="4899914"/>
                  </a:lnTo>
                  <a:cubicBezTo>
                    <a:pt x="25273" y="4899914"/>
                    <a:pt x="0" y="4874514"/>
                    <a:pt x="0" y="4843272"/>
                  </a:cubicBezTo>
                  <a:close/>
                </a:path>
              </a:pathLst>
            </a:custGeom>
            <a:solidFill>
              <a:srgbClr val="F0EDE6"/>
            </a:solidFill>
          </p:spPr>
          <p:txBody>
            <a:bodyPr/>
            <a:lstStyle/>
            <a:p>
              <a:endParaRPr lang="en-IN" dirty="0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804717" y="4316016"/>
            <a:ext cx="850554" cy="850554"/>
            <a:chOff x="0" y="0"/>
            <a:chExt cx="1134072" cy="113407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34110" cy="1134110"/>
            </a:xfrm>
            <a:custGeom>
              <a:avLst/>
              <a:gdLst/>
              <a:ahLst/>
              <a:cxnLst/>
              <a:rect l="l" t="t" r="r" b="b"/>
              <a:pathLst>
                <a:path w="1134110" h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1B5F39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6804717" y="5421516"/>
            <a:ext cx="3544043" cy="47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Market Overwhelm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804717" y="5977385"/>
            <a:ext cx="4678413" cy="144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There are so many new tech fields that students may not know which one to choose.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2050163" y="4032494"/>
            <a:ext cx="5245446" cy="3675012"/>
            <a:chOff x="0" y="0"/>
            <a:chExt cx="6993928" cy="490001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993890" cy="4899914"/>
            </a:xfrm>
            <a:custGeom>
              <a:avLst/>
              <a:gdLst/>
              <a:ahLst/>
              <a:cxnLst/>
              <a:rect l="l" t="t" r="r" b="b"/>
              <a:pathLst>
                <a:path w="6993890" h="4899914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6937248" y="0"/>
                  </a:lnTo>
                  <a:cubicBezTo>
                    <a:pt x="6968617" y="0"/>
                    <a:pt x="6993890" y="25400"/>
                    <a:pt x="6993890" y="56642"/>
                  </a:cubicBezTo>
                  <a:lnTo>
                    <a:pt x="6993890" y="4843272"/>
                  </a:lnTo>
                  <a:cubicBezTo>
                    <a:pt x="6993890" y="4874641"/>
                    <a:pt x="6968490" y="4899914"/>
                    <a:pt x="6937248" y="4899914"/>
                  </a:cubicBezTo>
                  <a:lnTo>
                    <a:pt x="56642" y="4899914"/>
                  </a:lnTo>
                  <a:cubicBezTo>
                    <a:pt x="25273" y="4899914"/>
                    <a:pt x="0" y="4874514"/>
                    <a:pt x="0" y="4843272"/>
                  </a:cubicBezTo>
                  <a:close/>
                </a:path>
              </a:pathLst>
            </a:custGeom>
            <a:solidFill>
              <a:srgbClr val="F0EDE6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2333684" y="4316016"/>
            <a:ext cx="850554" cy="850554"/>
            <a:chOff x="0" y="0"/>
            <a:chExt cx="1134072" cy="113407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134110" cy="1134110"/>
            </a:xfrm>
            <a:custGeom>
              <a:avLst/>
              <a:gdLst/>
              <a:ahLst/>
              <a:cxnLst/>
              <a:rect l="l" t="t" r="r" b="b"/>
              <a:pathLst>
                <a:path w="1134110" h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1B5F39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2333684" y="5421516"/>
            <a:ext cx="3544043" cy="47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Need for Automation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333684" y="5977385"/>
            <a:ext cx="4678413" cy="1446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Students need a quick, automated way to sort career options by their skills.</a:t>
            </a:r>
          </a:p>
        </p:txBody>
      </p:sp>
      <p:sp>
        <p:nvSpPr>
          <p:cNvPr id="25" name="Shape 2">
            <a:extLst>
              <a:ext uri="{FF2B5EF4-FFF2-40B4-BE49-F238E27FC236}">
                <a16:creationId xmlns:a16="http://schemas.microsoft.com/office/drawing/2014/main" id="{4A150AEF-675A-35E4-9F06-A3B77B120417}"/>
              </a:ext>
            </a:extLst>
          </p:cNvPr>
          <p:cNvSpPr/>
          <p:nvPr/>
        </p:nvSpPr>
        <p:spPr>
          <a:xfrm>
            <a:off x="1447800" y="4316016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B5F39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26A2D5-4E0A-EBB1-FDA8-C6836929B5FB}"/>
              </a:ext>
            </a:extLst>
          </p:cNvPr>
          <p:cNvSpPr txBox="1"/>
          <p:nvPr/>
        </p:nvSpPr>
        <p:spPr>
          <a:xfrm>
            <a:off x="1981200" y="3086100"/>
            <a:ext cx="113538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solidFill>
                  <a:srgbClr val="2C2821"/>
                </a:solidFill>
                <a:latin typeface="Lora"/>
              </a:rPr>
              <a:t>Python – Main programming language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solidFill>
                <a:srgbClr val="2C2821"/>
              </a:solidFill>
              <a:latin typeface="Lora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solidFill>
                  <a:srgbClr val="2C2821"/>
                </a:solidFill>
                <a:latin typeface="Lora"/>
              </a:rPr>
              <a:t>Pandas – To handle and process data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solidFill>
                <a:srgbClr val="2C2821"/>
              </a:solidFill>
              <a:latin typeface="Lora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solidFill>
                  <a:srgbClr val="2C2821"/>
                </a:solidFill>
                <a:latin typeface="Lora"/>
              </a:rPr>
              <a:t>Scikit-learn – For machine learning (Decision Tree &amp; Label Encoding)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rgbClr val="2C2821"/>
                </a:solidFill>
                <a:latin typeface="Lora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solidFill>
                  <a:srgbClr val="2C2821"/>
                </a:solidFill>
                <a:latin typeface="Lora"/>
              </a:rPr>
              <a:t>CSV File – To store student data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solidFill>
                <a:srgbClr val="2C2821"/>
              </a:solidFill>
              <a:latin typeface="Lora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solidFill>
                  <a:srgbClr val="2C2821"/>
                </a:solidFill>
                <a:latin typeface="Lora"/>
              </a:rPr>
              <a:t>Command Line Input/Output – For user interaction 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5C07E1-8C6B-F843-DF71-90B7A1D9AA6F}"/>
              </a:ext>
            </a:extLst>
          </p:cNvPr>
          <p:cNvSpPr txBox="1"/>
          <p:nvPr/>
        </p:nvSpPr>
        <p:spPr>
          <a:xfrm>
            <a:off x="1524000" y="876300"/>
            <a:ext cx="6858000" cy="948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562" dirty="0">
                <a:solidFill>
                  <a:srgbClr val="233E32"/>
                </a:solidFill>
                <a:latin typeface="Alice"/>
              </a:rPr>
              <a:t>Technologies Used</a:t>
            </a:r>
          </a:p>
        </p:txBody>
      </p:sp>
    </p:spTree>
    <p:extLst>
      <p:ext uri="{BB962C8B-B14F-4D97-AF65-F5344CB8AC3E}">
        <p14:creationId xmlns:p14="http://schemas.microsoft.com/office/powerpoint/2010/main" val="144418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1F2DE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CFBF8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2238" y="957263"/>
            <a:ext cx="5670652" cy="737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Project Objective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2009775"/>
            <a:ext cx="16303523" cy="374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750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This smart system turns student profiles into personal career suggestions through automatic review.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92238" y="2587971"/>
            <a:ext cx="8151762" cy="907256"/>
            <a:chOff x="0" y="0"/>
            <a:chExt cx="10869016" cy="1209675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10869041" cy="1209675"/>
            </a:xfrm>
            <a:custGeom>
              <a:avLst/>
              <a:gdLst/>
              <a:ahLst/>
              <a:cxnLst/>
              <a:rect l="l" t="t" r="r" b="b"/>
              <a:pathLst>
                <a:path w="10869041" h="1209675">
                  <a:moveTo>
                    <a:pt x="0" y="0"/>
                  </a:moveTo>
                  <a:lnTo>
                    <a:pt x="10869041" y="0"/>
                  </a:lnTo>
                  <a:lnTo>
                    <a:pt x="10869041" y="1209675"/>
                  </a:lnTo>
                  <a:lnTo>
                    <a:pt x="0" y="1209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41" r="-14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219048" y="3657600"/>
            <a:ext cx="2835326" cy="373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Collect School Details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19048" y="4092178"/>
            <a:ext cx="7698134" cy="374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750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Student info, grades, and school background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144000" y="2587971"/>
            <a:ext cx="8151762" cy="907256"/>
            <a:chOff x="0" y="0"/>
            <a:chExt cx="10869016" cy="1209675"/>
          </a:xfrm>
        </p:grpSpPr>
        <p:sp>
          <p:nvSpPr>
            <p:cNvPr id="13" name="Freeform 13" descr="preencoded.png"/>
            <p:cNvSpPr/>
            <p:nvPr/>
          </p:nvSpPr>
          <p:spPr>
            <a:xfrm>
              <a:off x="0" y="0"/>
              <a:ext cx="10869041" cy="1209675"/>
            </a:xfrm>
            <a:custGeom>
              <a:avLst/>
              <a:gdLst/>
              <a:ahLst/>
              <a:cxnLst/>
              <a:rect l="l" t="t" r="r" b="b"/>
              <a:pathLst>
                <a:path w="10869041" h="1209675">
                  <a:moveTo>
                    <a:pt x="0" y="0"/>
                  </a:moveTo>
                  <a:lnTo>
                    <a:pt x="10869041" y="0"/>
                  </a:lnTo>
                  <a:lnTo>
                    <a:pt x="10869041" y="1209675"/>
                  </a:lnTo>
                  <a:lnTo>
                    <a:pt x="0" y="1209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41" r="-14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9370809" y="3657600"/>
            <a:ext cx="3140716" cy="373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Gather Skills &amp; Interests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370809" y="4092178"/>
            <a:ext cx="7698134" cy="374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750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Useful skills and career interests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992238" y="4693148"/>
            <a:ext cx="8151762" cy="907256"/>
            <a:chOff x="0" y="0"/>
            <a:chExt cx="10869016" cy="1209675"/>
          </a:xfrm>
        </p:grpSpPr>
        <p:sp>
          <p:nvSpPr>
            <p:cNvPr id="17" name="Freeform 17" descr="preencoded.png"/>
            <p:cNvSpPr/>
            <p:nvPr/>
          </p:nvSpPr>
          <p:spPr>
            <a:xfrm>
              <a:off x="0" y="0"/>
              <a:ext cx="10869041" cy="1209675"/>
            </a:xfrm>
            <a:custGeom>
              <a:avLst/>
              <a:gdLst/>
              <a:ahLst/>
              <a:cxnLst/>
              <a:rect l="l" t="t" r="r" b="b"/>
              <a:pathLst>
                <a:path w="10869041" h="1209675">
                  <a:moveTo>
                    <a:pt x="0" y="0"/>
                  </a:moveTo>
                  <a:lnTo>
                    <a:pt x="10869041" y="0"/>
                  </a:lnTo>
                  <a:lnTo>
                    <a:pt x="10869041" y="1209675"/>
                  </a:lnTo>
                  <a:lnTo>
                    <a:pt x="0" y="1209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41" r="-14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219048" y="5762777"/>
            <a:ext cx="2835326" cy="373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Review Profile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19048" y="6197356"/>
            <a:ext cx="7698134" cy="374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750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Check and study all the information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9144000" y="4693148"/>
            <a:ext cx="8151762" cy="907256"/>
            <a:chOff x="0" y="0"/>
            <a:chExt cx="10869016" cy="1209675"/>
          </a:xfrm>
        </p:grpSpPr>
        <p:sp>
          <p:nvSpPr>
            <p:cNvPr id="21" name="Freeform 21" descr="preencoded.png"/>
            <p:cNvSpPr/>
            <p:nvPr/>
          </p:nvSpPr>
          <p:spPr>
            <a:xfrm>
              <a:off x="0" y="0"/>
              <a:ext cx="10869041" cy="1209675"/>
            </a:xfrm>
            <a:custGeom>
              <a:avLst/>
              <a:gdLst/>
              <a:ahLst/>
              <a:cxnLst/>
              <a:rect l="l" t="t" r="r" b="b"/>
              <a:pathLst>
                <a:path w="10869041" h="1209675">
                  <a:moveTo>
                    <a:pt x="0" y="0"/>
                  </a:moveTo>
                  <a:lnTo>
                    <a:pt x="10869041" y="0"/>
                  </a:lnTo>
                  <a:lnTo>
                    <a:pt x="10869041" y="1209675"/>
                  </a:lnTo>
                  <a:lnTo>
                    <a:pt x="0" y="1209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41" r="-14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9370809" y="5762777"/>
            <a:ext cx="2835326" cy="373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Suggest Careers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370809" y="6197356"/>
            <a:ext cx="7698134" cy="374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750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Show good career options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92238" y="7041804"/>
            <a:ext cx="3402359" cy="453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Example Career Paths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92238" y="7930010"/>
            <a:ext cx="2835326" cy="373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AI Engineer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92238" y="8437216"/>
            <a:ext cx="3660877" cy="700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750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Build smart systems and learning models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215976" y="7930010"/>
            <a:ext cx="2835326" cy="373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Software Developer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215976" y="8437216"/>
            <a:ext cx="3660877" cy="700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750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Create apps and solve tech problems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439723" y="7930010"/>
            <a:ext cx="2835326" cy="373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Data Scientist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439723" y="8437216"/>
            <a:ext cx="3660877" cy="700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750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Study data to help make business choices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3663460" y="7930010"/>
            <a:ext cx="2835326" cy="373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Cybersecurity Analyst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3663460" y="8437216"/>
            <a:ext cx="3660877" cy="700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750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Protect systems from online threats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1F2DE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46568" y="39724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CFBF8"/>
            </a:solid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807834" y="556760"/>
            <a:ext cx="5598471" cy="595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3625" dirty="0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Student Profile Data Points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1936404"/>
            <a:ext cx="16303523" cy="2622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437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The system collects key details to build a full student profile for better recommendations.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238" y="2448963"/>
            <a:ext cx="184252" cy="228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4"/>
              </a:lnSpc>
            </a:pPr>
            <a:endParaRPr lang="en-US" sz="1437" dirty="0">
              <a:solidFill>
                <a:srgbClr val="2C2821"/>
              </a:solidFill>
              <a:latin typeface="Alice"/>
              <a:ea typeface="Alice"/>
              <a:cs typeface="Alice"/>
              <a:sym typeface="Alice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992238" y="2761955"/>
            <a:ext cx="5414067" cy="19050"/>
            <a:chOff x="0" y="0"/>
            <a:chExt cx="7218756" cy="254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218807" cy="25400"/>
            </a:xfrm>
            <a:custGeom>
              <a:avLst/>
              <a:gdLst/>
              <a:ahLst/>
              <a:cxnLst/>
              <a:rect l="l" t="t" r="r" b="b"/>
              <a:pathLst>
                <a:path w="7218807" h="25400">
                  <a:moveTo>
                    <a:pt x="0" y="0"/>
                  </a:moveTo>
                  <a:lnTo>
                    <a:pt x="7218807" y="0"/>
                  </a:lnTo>
                  <a:lnTo>
                    <a:pt x="7218807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1B5F39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992238" y="2882656"/>
            <a:ext cx="2303707" cy="297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812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Personal Info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2238" y="3280772"/>
            <a:ext cx="5414067" cy="2622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437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Name and age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92238" y="3781720"/>
            <a:ext cx="184252" cy="228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4"/>
              </a:lnSpc>
            </a:pPr>
            <a:endParaRPr lang="en-US" sz="1437" dirty="0">
              <a:solidFill>
                <a:srgbClr val="2C2821"/>
              </a:solidFill>
              <a:latin typeface="Alice"/>
              <a:ea typeface="Alice"/>
              <a:cs typeface="Alice"/>
              <a:sym typeface="Alice"/>
            </a:endParaRPr>
          </a:p>
        </p:txBody>
      </p:sp>
      <p:grpSp>
        <p:nvGrpSpPr>
          <p:cNvPr id="14" name="Group 14"/>
          <p:cNvGrpSpPr/>
          <p:nvPr/>
        </p:nvGrpSpPr>
        <p:grpSpPr>
          <a:xfrm>
            <a:off x="992238" y="4094712"/>
            <a:ext cx="5414067" cy="19050"/>
            <a:chOff x="0" y="0"/>
            <a:chExt cx="7218756" cy="254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218807" cy="25400"/>
            </a:xfrm>
            <a:custGeom>
              <a:avLst/>
              <a:gdLst/>
              <a:ahLst/>
              <a:cxnLst/>
              <a:rect l="l" t="t" r="r" b="b"/>
              <a:pathLst>
                <a:path w="7218807" h="25400">
                  <a:moveTo>
                    <a:pt x="0" y="0"/>
                  </a:moveTo>
                  <a:lnTo>
                    <a:pt x="7218807" y="0"/>
                  </a:lnTo>
                  <a:lnTo>
                    <a:pt x="7218807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1B5F39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992238" y="4215403"/>
            <a:ext cx="2303707" cy="297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812" dirty="0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School Results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92238" y="4613519"/>
            <a:ext cx="5414067" cy="2622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437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12th marks and BTech CGPA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92238" y="5114477"/>
            <a:ext cx="184252" cy="228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4"/>
              </a:lnSpc>
            </a:pPr>
            <a:endParaRPr lang="en-US" sz="1437" dirty="0">
              <a:solidFill>
                <a:srgbClr val="2C2821"/>
              </a:solidFill>
              <a:latin typeface="Alice"/>
              <a:ea typeface="Alice"/>
              <a:cs typeface="Alice"/>
              <a:sym typeface="Alice"/>
            </a:endParaRPr>
          </a:p>
        </p:txBody>
      </p:sp>
      <p:grpSp>
        <p:nvGrpSpPr>
          <p:cNvPr id="19" name="Group 19"/>
          <p:cNvGrpSpPr/>
          <p:nvPr/>
        </p:nvGrpSpPr>
        <p:grpSpPr>
          <a:xfrm>
            <a:off x="992237" y="5123566"/>
            <a:ext cx="5414067" cy="19050"/>
            <a:chOff x="0" y="0"/>
            <a:chExt cx="7218756" cy="254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7218807" cy="25400"/>
            </a:xfrm>
            <a:custGeom>
              <a:avLst/>
              <a:gdLst/>
              <a:ahLst/>
              <a:cxnLst/>
              <a:rect l="l" t="t" r="r" b="b"/>
              <a:pathLst>
                <a:path w="7218807" h="25400">
                  <a:moveTo>
                    <a:pt x="0" y="0"/>
                  </a:moveTo>
                  <a:lnTo>
                    <a:pt x="7218807" y="0"/>
                  </a:lnTo>
                  <a:lnTo>
                    <a:pt x="7218807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1B5F39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176490" y="5446509"/>
            <a:ext cx="2343598" cy="297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812" dirty="0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Education Background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77107" y="6250657"/>
            <a:ext cx="5414067" cy="2622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437" dirty="0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BTech stream like CSE, IT, or ECE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992238" y="6760216"/>
            <a:ext cx="5414067" cy="19050"/>
            <a:chOff x="0" y="0"/>
            <a:chExt cx="7218756" cy="254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7218807" cy="25400"/>
            </a:xfrm>
            <a:custGeom>
              <a:avLst/>
              <a:gdLst/>
              <a:ahLst/>
              <a:cxnLst/>
              <a:rect l="l" t="t" r="r" b="b"/>
              <a:pathLst>
                <a:path w="7218807" h="25400">
                  <a:moveTo>
                    <a:pt x="0" y="0"/>
                  </a:moveTo>
                  <a:lnTo>
                    <a:pt x="7218807" y="0"/>
                  </a:lnTo>
                  <a:lnTo>
                    <a:pt x="7218807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1B5F39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992238" y="6880917"/>
            <a:ext cx="2303707" cy="297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812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Technical Skills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92238" y="7279034"/>
            <a:ext cx="5414067" cy="2622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437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Programming languages and tools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992238" y="8092973"/>
            <a:ext cx="5414067" cy="19050"/>
            <a:chOff x="0" y="0"/>
            <a:chExt cx="7218756" cy="254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7218807" cy="25400"/>
            </a:xfrm>
            <a:custGeom>
              <a:avLst/>
              <a:gdLst/>
              <a:ahLst/>
              <a:cxnLst/>
              <a:rect l="l" t="t" r="r" b="b"/>
              <a:pathLst>
                <a:path w="7218807" h="25400">
                  <a:moveTo>
                    <a:pt x="0" y="0"/>
                  </a:moveTo>
                  <a:lnTo>
                    <a:pt x="7218807" y="0"/>
                  </a:lnTo>
                  <a:lnTo>
                    <a:pt x="7218807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1B5F39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992238" y="8213674"/>
            <a:ext cx="2303707" cy="297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812" dirty="0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Career Interests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92238" y="8611791"/>
            <a:ext cx="5414067" cy="2622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437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Fields and areas they like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8692305" y="3846309"/>
            <a:ext cx="6785820" cy="3787378"/>
            <a:chOff x="0" y="0"/>
            <a:chExt cx="9047759" cy="5049838"/>
          </a:xfrm>
        </p:grpSpPr>
        <p:sp>
          <p:nvSpPr>
            <p:cNvPr id="34" name="Freeform 34" descr="preencoded.png"/>
            <p:cNvSpPr/>
            <p:nvPr/>
          </p:nvSpPr>
          <p:spPr>
            <a:xfrm>
              <a:off x="0" y="0"/>
              <a:ext cx="9047734" cy="5049774"/>
            </a:xfrm>
            <a:custGeom>
              <a:avLst/>
              <a:gdLst/>
              <a:ahLst/>
              <a:cxnLst/>
              <a:rect l="l" t="t" r="r" b="b"/>
              <a:pathLst>
                <a:path w="9047734" h="5049774">
                  <a:moveTo>
                    <a:pt x="0" y="0"/>
                  </a:moveTo>
                  <a:lnTo>
                    <a:pt x="9047734" y="0"/>
                  </a:lnTo>
                  <a:lnTo>
                    <a:pt x="9047734" y="5049774"/>
                  </a:lnTo>
                  <a:lnTo>
                    <a:pt x="0" y="5049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76" b="-78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1F2DE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CFBF8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2238" y="749941"/>
            <a:ext cx="6980787" cy="889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25"/>
              </a:lnSpc>
            </a:pPr>
            <a:r>
              <a:rPr lang="en-US" sz="5250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Smart Career Matching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2074812"/>
            <a:ext cx="16303523" cy="496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062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The system uses a smart matching method that links student interests to the right career groups.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73188" y="2839936"/>
            <a:ext cx="8061874" cy="3435401"/>
            <a:chOff x="0" y="0"/>
            <a:chExt cx="10749166" cy="4580534"/>
          </a:xfrm>
        </p:grpSpPr>
        <p:sp>
          <p:nvSpPr>
            <p:cNvPr id="9" name="Freeform 9"/>
            <p:cNvSpPr/>
            <p:nvPr/>
          </p:nvSpPr>
          <p:spPr>
            <a:xfrm>
              <a:off x="25400" y="25400"/>
              <a:ext cx="10698353" cy="4529709"/>
            </a:xfrm>
            <a:custGeom>
              <a:avLst/>
              <a:gdLst/>
              <a:ahLst/>
              <a:cxnLst/>
              <a:rect l="l" t="t" r="r" b="b"/>
              <a:pathLst>
                <a:path w="10698353" h="4529709">
                  <a:moveTo>
                    <a:pt x="0" y="53848"/>
                  </a:moveTo>
                  <a:cubicBezTo>
                    <a:pt x="0" y="24130"/>
                    <a:pt x="24257" y="0"/>
                    <a:pt x="54229" y="0"/>
                  </a:cubicBezTo>
                  <a:lnTo>
                    <a:pt x="10644124" y="0"/>
                  </a:lnTo>
                  <a:cubicBezTo>
                    <a:pt x="10674096" y="0"/>
                    <a:pt x="10698353" y="24130"/>
                    <a:pt x="10698353" y="53848"/>
                  </a:cubicBezTo>
                  <a:lnTo>
                    <a:pt x="10698353" y="4475861"/>
                  </a:lnTo>
                  <a:cubicBezTo>
                    <a:pt x="10698353" y="4505579"/>
                    <a:pt x="10674096" y="4529709"/>
                    <a:pt x="10644124" y="4529709"/>
                  </a:cubicBezTo>
                  <a:lnTo>
                    <a:pt x="54229" y="4529709"/>
                  </a:lnTo>
                  <a:cubicBezTo>
                    <a:pt x="24257" y="4529709"/>
                    <a:pt x="0" y="4505579"/>
                    <a:pt x="0" y="4475861"/>
                  </a:cubicBezTo>
                  <a:close/>
                </a:path>
              </a:pathLst>
            </a:custGeom>
            <a:solidFill>
              <a:srgbClr val="FCFBF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0"/>
              <a:ext cx="10749153" cy="4580509"/>
            </a:xfrm>
            <a:custGeom>
              <a:avLst/>
              <a:gdLst/>
              <a:ahLst/>
              <a:cxnLst/>
              <a:rect l="l" t="t" r="r" b="b"/>
              <a:pathLst>
                <a:path w="10749153" h="4580509">
                  <a:moveTo>
                    <a:pt x="0" y="79248"/>
                  </a:moveTo>
                  <a:cubicBezTo>
                    <a:pt x="0" y="35306"/>
                    <a:pt x="35814" y="0"/>
                    <a:pt x="79629" y="0"/>
                  </a:cubicBezTo>
                  <a:lnTo>
                    <a:pt x="10669524" y="0"/>
                  </a:lnTo>
                  <a:lnTo>
                    <a:pt x="10669524" y="25400"/>
                  </a:lnTo>
                  <a:lnTo>
                    <a:pt x="10669524" y="0"/>
                  </a:lnTo>
                  <a:cubicBezTo>
                    <a:pt x="10713339" y="0"/>
                    <a:pt x="10749153" y="35306"/>
                    <a:pt x="10749153" y="79248"/>
                  </a:cubicBezTo>
                  <a:lnTo>
                    <a:pt x="10723753" y="79248"/>
                  </a:lnTo>
                  <a:lnTo>
                    <a:pt x="10749153" y="79248"/>
                  </a:lnTo>
                  <a:lnTo>
                    <a:pt x="10749153" y="4501261"/>
                  </a:lnTo>
                  <a:lnTo>
                    <a:pt x="10723753" y="4501261"/>
                  </a:lnTo>
                  <a:lnTo>
                    <a:pt x="10749153" y="4501261"/>
                  </a:lnTo>
                  <a:cubicBezTo>
                    <a:pt x="10749153" y="4545203"/>
                    <a:pt x="10713339" y="4580509"/>
                    <a:pt x="10669524" y="4580509"/>
                  </a:cubicBezTo>
                  <a:lnTo>
                    <a:pt x="10669524" y="4555109"/>
                  </a:lnTo>
                  <a:lnTo>
                    <a:pt x="10669524" y="4580509"/>
                  </a:lnTo>
                  <a:lnTo>
                    <a:pt x="79629" y="4580509"/>
                  </a:lnTo>
                  <a:lnTo>
                    <a:pt x="79629" y="4555109"/>
                  </a:lnTo>
                  <a:lnTo>
                    <a:pt x="79629" y="4580509"/>
                  </a:lnTo>
                  <a:cubicBezTo>
                    <a:pt x="35814" y="4580509"/>
                    <a:pt x="0" y="4545203"/>
                    <a:pt x="0" y="4501261"/>
                  </a:cubicBezTo>
                  <a:lnTo>
                    <a:pt x="0" y="79248"/>
                  </a:lnTo>
                  <a:lnTo>
                    <a:pt x="25400" y="79248"/>
                  </a:lnTo>
                  <a:lnTo>
                    <a:pt x="0" y="79248"/>
                  </a:lnTo>
                  <a:moveTo>
                    <a:pt x="50800" y="79248"/>
                  </a:moveTo>
                  <a:lnTo>
                    <a:pt x="50800" y="4501261"/>
                  </a:lnTo>
                  <a:lnTo>
                    <a:pt x="25400" y="4501261"/>
                  </a:lnTo>
                  <a:lnTo>
                    <a:pt x="50800" y="4501261"/>
                  </a:lnTo>
                  <a:cubicBezTo>
                    <a:pt x="50800" y="4516882"/>
                    <a:pt x="63500" y="4529709"/>
                    <a:pt x="79629" y="4529709"/>
                  </a:cubicBezTo>
                  <a:lnTo>
                    <a:pt x="10669524" y="4529709"/>
                  </a:lnTo>
                  <a:cubicBezTo>
                    <a:pt x="10685526" y="4529709"/>
                    <a:pt x="10698353" y="4516755"/>
                    <a:pt x="10698353" y="4501261"/>
                  </a:cubicBezTo>
                  <a:lnTo>
                    <a:pt x="10698353" y="79248"/>
                  </a:lnTo>
                  <a:cubicBezTo>
                    <a:pt x="10698353" y="63627"/>
                    <a:pt x="10685653" y="50800"/>
                    <a:pt x="10669524" y="50800"/>
                  </a:cubicBezTo>
                  <a:lnTo>
                    <a:pt x="79629" y="50800"/>
                  </a:lnTo>
                  <a:lnTo>
                    <a:pt x="79629" y="25400"/>
                  </a:lnTo>
                  <a:lnTo>
                    <a:pt x="79629" y="50800"/>
                  </a:lnTo>
                  <a:cubicBezTo>
                    <a:pt x="63500" y="50800"/>
                    <a:pt x="50800" y="63754"/>
                    <a:pt x="50800" y="79248"/>
                  </a:cubicBezTo>
                  <a:close/>
                </a:path>
              </a:pathLst>
            </a:custGeom>
            <a:solidFill>
              <a:srgbClr val="D6D3CC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30338" y="2897086"/>
            <a:ext cx="7947574" cy="807987"/>
            <a:chOff x="0" y="0"/>
            <a:chExt cx="10596766" cy="107731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596753" cy="1077341"/>
            </a:xfrm>
            <a:custGeom>
              <a:avLst/>
              <a:gdLst/>
              <a:ahLst/>
              <a:cxnLst/>
              <a:rect l="l" t="t" r="r" b="b"/>
              <a:pathLst>
                <a:path w="10596753" h="1077341">
                  <a:moveTo>
                    <a:pt x="0" y="0"/>
                  </a:moveTo>
                  <a:lnTo>
                    <a:pt x="10596753" y="0"/>
                  </a:lnTo>
                  <a:lnTo>
                    <a:pt x="10596753" y="1077341"/>
                  </a:lnTo>
                  <a:lnTo>
                    <a:pt x="0" y="1077341"/>
                  </a:lnTo>
                  <a:close/>
                </a:path>
              </a:pathLst>
            </a:custGeom>
            <a:solidFill>
              <a:srgbClr val="F0EDE6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299572" y="3932339"/>
            <a:ext cx="3488531" cy="449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AI &amp; Machine Learning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99572" y="4458891"/>
            <a:ext cx="7409107" cy="916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062" b="1">
                <a:solidFill>
                  <a:srgbClr val="2C2821"/>
                </a:solidFill>
                <a:latin typeface="Lora Bold"/>
                <a:ea typeface="Lora Bold"/>
                <a:cs typeface="Lora Bold"/>
                <a:sym typeface="Lora Bold"/>
              </a:rPr>
              <a:t>Careers:</a:t>
            </a:r>
            <a:r>
              <a:rPr lang="en-US" sz="2062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 Data Scientist, Machine Learning Engineer, AI Engineer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99572" y="5452615"/>
            <a:ext cx="7409107" cy="496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062" b="1">
                <a:solidFill>
                  <a:srgbClr val="2C2821"/>
                </a:solidFill>
                <a:latin typeface="Lora Bold"/>
                <a:ea typeface="Lora Bold"/>
                <a:cs typeface="Lora Bold"/>
                <a:sym typeface="Lora Bold"/>
              </a:rPr>
              <a:t>Keywords:</a:t>
            </a:r>
            <a:r>
              <a:rPr lang="en-US" sz="2062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 AI, Data, Machine Learning, Analytics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9252795" y="2839936"/>
            <a:ext cx="8062017" cy="3435401"/>
            <a:chOff x="0" y="0"/>
            <a:chExt cx="10749356" cy="4580534"/>
          </a:xfrm>
        </p:grpSpPr>
        <p:sp>
          <p:nvSpPr>
            <p:cNvPr id="17" name="Freeform 17"/>
            <p:cNvSpPr/>
            <p:nvPr/>
          </p:nvSpPr>
          <p:spPr>
            <a:xfrm>
              <a:off x="25400" y="25400"/>
              <a:ext cx="10698607" cy="4529709"/>
            </a:xfrm>
            <a:custGeom>
              <a:avLst/>
              <a:gdLst/>
              <a:ahLst/>
              <a:cxnLst/>
              <a:rect l="l" t="t" r="r" b="b"/>
              <a:pathLst>
                <a:path w="10698607" h="4529709">
                  <a:moveTo>
                    <a:pt x="0" y="53848"/>
                  </a:moveTo>
                  <a:cubicBezTo>
                    <a:pt x="0" y="24130"/>
                    <a:pt x="24257" y="0"/>
                    <a:pt x="54229" y="0"/>
                  </a:cubicBezTo>
                  <a:lnTo>
                    <a:pt x="10644378" y="0"/>
                  </a:lnTo>
                  <a:cubicBezTo>
                    <a:pt x="10674350" y="0"/>
                    <a:pt x="10698607" y="24130"/>
                    <a:pt x="10698607" y="53848"/>
                  </a:cubicBezTo>
                  <a:lnTo>
                    <a:pt x="10698607" y="4475861"/>
                  </a:lnTo>
                  <a:cubicBezTo>
                    <a:pt x="10698607" y="4505579"/>
                    <a:pt x="10674350" y="4529709"/>
                    <a:pt x="10644378" y="4529709"/>
                  </a:cubicBezTo>
                  <a:lnTo>
                    <a:pt x="54229" y="4529709"/>
                  </a:lnTo>
                  <a:cubicBezTo>
                    <a:pt x="24257" y="4529709"/>
                    <a:pt x="0" y="4505579"/>
                    <a:pt x="0" y="4475861"/>
                  </a:cubicBezTo>
                  <a:close/>
                </a:path>
              </a:pathLst>
            </a:custGeom>
            <a:solidFill>
              <a:srgbClr val="FCFBF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0" y="0"/>
              <a:ext cx="10749407" cy="4580509"/>
            </a:xfrm>
            <a:custGeom>
              <a:avLst/>
              <a:gdLst/>
              <a:ahLst/>
              <a:cxnLst/>
              <a:rect l="l" t="t" r="r" b="b"/>
              <a:pathLst>
                <a:path w="10749407" h="4580509">
                  <a:moveTo>
                    <a:pt x="0" y="79248"/>
                  </a:moveTo>
                  <a:cubicBezTo>
                    <a:pt x="0" y="35306"/>
                    <a:pt x="35814" y="0"/>
                    <a:pt x="79629" y="0"/>
                  </a:cubicBezTo>
                  <a:lnTo>
                    <a:pt x="10669778" y="0"/>
                  </a:lnTo>
                  <a:lnTo>
                    <a:pt x="10669778" y="25400"/>
                  </a:lnTo>
                  <a:lnTo>
                    <a:pt x="10669778" y="0"/>
                  </a:lnTo>
                  <a:cubicBezTo>
                    <a:pt x="10713593" y="0"/>
                    <a:pt x="10749407" y="35306"/>
                    <a:pt x="10749407" y="79248"/>
                  </a:cubicBezTo>
                  <a:lnTo>
                    <a:pt x="10724007" y="79248"/>
                  </a:lnTo>
                  <a:lnTo>
                    <a:pt x="10749407" y="79248"/>
                  </a:lnTo>
                  <a:lnTo>
                    <a:pt x="10749407" y="4501261"/>
                  </a:lnTo>
                  <a:lnTo>
                    <a:pt x="10724007" y="4501261"/>
                  </a:lnTo>
                  <a:lnTo>
                    <a:pt x="10749407" y="4501261"/>
                  </a:lnTo>
                  <a:cubicBezTo>
                    <a:pt x="10749407" y="4545203"/>
                    <a:pt x="10713593" y="4580509"/>
                    <a:pt x="10669778" y="4580509"/>
                  </a:cubicBezTo>
                  <a:lnTo>
                    <a:pt x="10669778" y="4555109"/>
                  </a:lnTo>
                  <a:lnTo>
                    <a:pt x="10669778" y="4580509"/>
                  </a:lnTo>
                  <a:lnTo>
                    <a:pt x="79629" y="4580509"/>
                  </a:lnTo>
                  <a:lnTo>
                    <a:pt x="79629" y="4555109"/>
                  </a:lnTo>
                  <a:lnTo>
                    <a:pt x="79629" y="4580509"/>
                  </a:lnTo>
                  <a:cubicBezTo>
                    <a:pt x="35814" y="4580509"/>
                    <a:pt x="0" y="4545203"/>
                    <a:pt x="0" y="4501261"/>
                  </a:cubicBezTo>
                  <a:lnTo>
                    <a:pt x="0" y="79248"/>
                  </a:lnTo>
                  <a:lnTo>
                    <a:pt x="25400" y="79248"/>
                  </a:lnTo>
                  <a:lnTo>
                    <a:pt x="0" y="79248"/>
                  </a:lnTo>
                  <a:moveTo>
                    <a:pt x="50800" y="79248"/>
                  </a:moveTo>
                  <a:lnTo>
                    <a:pt x="50800" y="4501261"/>
                  </a:lnTo>
                  <a:lnTo>
                    <a:pt x="25400" y="4501261"/>
                  </a:lnTo>
                  <a:lnTo>
                    <a:pt x="50800" y="4501261"/>
                  </a:lnTo>
                  <a:cubicBezTo>
                    <a:pt x="50800" y="4516882"/>
                    <a:pt x="63500" y="4529709"/>
                    <a:pt x="79629" y="4529709"/>
                  </a:cubicBezTo>
                  <a:lnTo>
                    <a:pt x="10669778" y="4529709"/>
                  </a:lnTo>
                  <a:cubicBezTo>
                    <a:pt x="10685780" y="4529709"/>
                    <a:pt x="10698607" y="4516755"/>
                    <a:pt x="10698607" y="4501261"/>
                  </a:cubicBezTo>
                  <a:lnTo>
                    <a:pt x="10698607" y="79248"/>
                  </a:lnTo>
                  <a:cubicBezTo>
                    <a:pt x="10698607" y="63627"/>
                    <a:pt x="10685907" y="50800"/>
                    <a:pt x="10669778" y="50800"/>
                  </a:cubicBezTo>
                  <a:lnTo>
                    <a:pt x="79629" y="50800"/>
                  </a:lnTo>
                  <a:lnTo>
                    <a:pt x="79629" y="25400"/>
                  </a:lnTo>
                  <a:lnTo>
                    <a:pt x="79629" y="50800"/>
                  </a:lnTo>
                  <a:cubicBezTo>
                    <a:pt x="63500" y="50800"/>
                    <a:pt x="50800" y="63754"/>
                    <a:pt x="50800" y="79248"/>
                  </a:cubicBezTo>
                  <a:close/>
                </a:path>
              </a:pathLst>
            </a:custGeom>
            <a:solidFill>
              <a:srgbClr val="D6D3CC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309945" y="2897086"/>
            <a:ext cx="7947717" cy="807987"/>
            <a:chOff x="0" y="0"/>
            <a:chExt cx="10596956" cy="107731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597007" cy="1077341"/>
            </a:xfrm>
            <a:custGeom>
              <a:avLst/>
              <a:gdLst/>
              <a:ahLst/>
              <a:cxnLst/>
              <a:rect l="l" t="t" r="r" b="b"/>
              <a:pathLst>
                <a:path w="10597007" h="1077341">
                  <a:moveTo>
                    <a:pt x="0" y="0"/>
                  </a:moveTo>
                  <a:lnTo>
                    <a:pt x="10597007" y="0"/>
                  </a:lnTo>
                  <a:lnTo>
                    <a:pt x="10597007" y="1077341"/>
                  </a:lnTo>
                  <a:lnTo>
                    <a:pt x="0" y="1077341"/>
                  </a:lnTo>
                  <a:close/>
                </a:path>
              </a:pathLst>
            </a:custGeom>
            <a:solidFill>
              <a:srgbClr val="F0EDE6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9579178" y="3932339"/>
            <a:ext cx="3366935" cy="449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Cybersecurity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579178" y="4458891"/>
            <a:ext cx="7409259" cy="916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062" b="1">
                <a:solidFill>
                  <a:srgbClr val="2C2821"/>
                </a:solidFill>
                <a:latin typeface="Lora Bold"/>
                <a:ea typeface="Lora Bold"/>
                <a:cs typeface="Lora Bold"/>
                <a:sym typeface="Lora Bold"/>
              </a:rPr>
              <a:t>Careers:</a:t>
            </a:r>
            <a:r>
              <a:rPr lang="en-US" sz="2062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 Cyber Security Analyst, Network Security Engineer, Ethical Hacker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579178" y="5452615"/>
            <a:ext cx="7409259" cy="496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062" b="1">
                <a:solidFill>
                  <a:srgbClr val="2C2821"/>
                </a:solidFill>
                <a:latin typeface="Lora Bold"/>
                <a:ea typeface="Lora Bold"/>
                <a:cs typeface="Lora Bold"/>
                <a:sym typeface="Lora Bold"/>
              </a:rPr>
              <a:t>Keywords:</a:t>
            </a:r>
            <a:r>
              <a:rPr lang="en-US" sz="2062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 Security, Network, Ethical Hacking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973188" y="6493078"/>
            <a:ext cx="8061874" cy="3015253"/>
            <a:chOff x="0" y="0"/>
            <a:chExt cx="10749166" cy="4020337"/>
          </a:xfrm>
        </p:grpSpPr>
        <p:sp>
          <p:nvSpPr>
            <p:cNvPr id="25" name="Freeform 25"/>
            <p:cNvSpPr/>
            <p:nvPr/>
          </p:nvSpPr>
          <p:spPr>
            <a:xfrm>
              <a:off x="25400" y="25400"/>
              <a:ext cx="10698480" cy="3969512"/>
            </a:xfrm>
            <a:custGeom>
              <a:avLst/>
              <a:gdLst/>
              <a:ahLst/>
              <a:cxnLst/>
              <a:rect l="l" t="t" r="r" b="b"/>
              <a:pathLst>
                <a:path w="10698480" h="3969512">
                  <a:moveTo>
                    <a:pt x="0" y="53848"/>
                  </a:moveTo>
                  <a:cubicBezTo>
                    <a:pt x="0" y="24130"/>
                    <a:pt x="24257" y="0"/>
                    <a:pt x="54356" y="0"/>
                  </a:cubicBezTo>
                  <a:lnTo>
                    <a:pt x="10644124" y="0"/>
                  </a:lnTo>
                  <a:cubicBezTo>
                    <a:pt x="10674096" y="0"/>
                    <a:pt x="10698480" y="24130"/>
                    <a:pt x="10698480" y="53848"/>
                  </a:cubicBezTo>
                  <a:lnTo>
                    <a:pt x="10698480" y="3915664"/>
                  </a:lnTo>
                  <a:cubicBezTo>
                    <a:pt x="10698480" y="3945382"/>
                    <a:pt x="10674223" y="3969512"/>
                    <a:pt x="10644124" y="3969512"/>
                  </a:cubicBezTo>
                  <a:lnTo>
                    <a:pt x="54356" y="3969512"/>
                  </a:lnTo>
                  <a:cubicBezTo>
                    <a:pt x="24384" y="3969512"/>
                    <a:pt x="0" y="3945382"/>
                    <a:pt x="0" y="3915664"/>
                  </a:cubicBezTo>
                  <a:close/>
                </a:path>
              </a:pathLst>
            </a:custGeom>
            <a:solidFill>
              <a:srgbClr val="FCFBF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0" y="0"/>
              <a:ext cx="10749280" cy="4020312"/>
            </a:xfrm>
            <a:custGeom>
              <a:avLst/>
              <a:gdLst/>
              <a:ahLst/>
              <a:cxnLst/>
              <a:rect l="l" t="t" r="r" b="b"/>
              <a:pathLst>
                <a:path w="10749280" h="4020312">
                  <a:moveTo>
                    <a:pt x="0" y="79248"/>
                  </a:moveTo>
                  <a:cubicBezTo>
                    <a:pt x="0" y="35306"/>
                    <a:pt x="35814" y="0"/>
                    <a:pt x="79756" y="0"/>
                  </a:cubicBezTo>
                  <a:lnTo>
                    <a:pt x="10669524" y="0"/>
                  </a:lnTo>
                  <a:lnTo>
                    <a:pt x="10669524" y="25400"/>
                  </a:lnTo>
                  <a:lnTo>
                    <a:pt x="10669524" y="0"/>
                  </a:lnTo>
                  <a:cubicBezTo>
                    <a:pt x="10713339" y="0"/>
                    <a:pt x="10749280" y="35306"/>
                    <a:pt x="10749280" y="79248"/>
                  </a:cubicBezTo>
                  <a:lnTo>
                    <a:pt x="10723880" y="79248"/>
                  </a:lnTo>
                  <a:lnTo>
                    <a:pt x="10749280" y="79248"/>
                  </a:lnTo>
                  <a:lnTo>
                    <a:pt x="10749280" y="3941064"/>
                  </a:lnTo>
                  <a:lnTo>
                    <a:pt x="10723880" y="3941064"/>
                  </a:lnTo>
                  <a:lnTo>
                    <a:pt x="10749280" y="3941064"/>
                  </a:lnTo>
                  <a:cubicBezTo>
                    <a:pt x="10749280" y="3985006"/>
                    <a:pt x="10713466" y="4020312"/>
                    <a:pt x="10669524" y="4020312"/>
                  </a:cubicBezTo>
                  <a:lnTo>
                    <a:pt x="10669524" y="3994912"/>
                  </a:lnTo>
                  <a:lnTo>
                    <a:pt x="10669524" y="4020312"/>
                  </a:lnTo>
                  <a:lnTo>
                    <a:pt x="79756" y="4020312"/>
                  </a:lnTo>
                  <a:lnTo>
                    <a:pt x="79756" y="3994912"/>
                  </a:lnTo>
                  <a:lnTo>
                    <a:pt x="79756" y="4020312"/>
                  </a:lnTo>
                  <a:cubicBezTo>
                    <a:pt x="35941" y="4020312"/>
                    <a:pt x="0" y="3985006"/>
                    <a:pt x="0" y="3941064"/>
                  </a:cubicBezTo>
                  <a:lnTo>
                    <a:pt x="0" y="79248"/>
                  </a:lnTo>
                  <a:lnTo>
                    <a:pt x="25400" y="79248"/>
                  </a:lnTo>
                  <a:lnTo>
                    <a:pt x="0" y="79248"/>
                  </a:lnTo>
                  <a:moveTo>
                    <a:pt x="50800" y="79248"/>
                  </a:moveTo>
                  <a:lnTo>
                    <a:pt x="50800" y="3941064"/>
                  </a:lnTo>
                  <a:lnTo>
                    <a:pt x="25400" y="3941064"/>
                  </a:lnTo>
                  <a:lnTo>
                    <a:pt x="50800" y="3941064"/>
                  </a:lnTo>
                  <a:cubicBezTo>
                    <a:pt x="50800" y="3956558"/>
                    <a:pt x="63500" y="3969512"/>
                    <a:pt x="79756" y="3969512"/>
                  </a:cubicBezTo>
                  <a:lnTo>
                    <a:pt x="10669524" y="3969512"/>
                  </a:lnTo>
                  <a:cubicBezTo>
                    <a:pt x="10685653" y="3969512"/>
                    <a:pt x="10698480" y="3956558"/>
                    <a:pt x="10698480" y="3941064"/>
                  </a:cubicBezTo>
                  <a:lnTo>
                    <a:pt x="10698480" y="79248"/>
                  </a:lnTo>
                  <a:cubicBezTo>
                    <a:pt x="10698480" y="63754"/>
                    <a:pt x="10685780" y="50800"/>
                    <a:pt x="10669524" y="50800"/>
                  </a:cubicBezTo>
                  <a:lnTo>
                    <a:pt x="79756" y="50800"/>
                  </a:lnTo>
                  <a:lnTo>
                    <a:pt x="79756" y="25400"/>
                  </a:lnTo>
                  <a:lnTo>
                    <a:pt x="79756" y="50800"/>
                  </a:lnTo>
                  <a:cubicBezTo>
                    <a:pt x="63500" y="50800"/>
                    <a:pt x="50800" y="63754"/>
                    <a:pt x="50800" y="79248"/>
                  </a:cubicBezTo>
                  <a:close/>
                </a:path>
              </a:pathLst>
            </a:custGeom>
            <a:solidFill>
              <a:srgbClr val="D6D3CC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030338" y="6550228"/>
            <a:ext cx="7947574" cy="807987"/>
            <a:chOff x="0" y="0"/>
            <a:chExt cx="10596766" cy="1077316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0596753" cy="1077341"/>
            </a:xfrm>
            <a:custGeom>
              <a:avLst/>
              <a:gdLst/>
              <a:ahLst/>
              <a:cxnLst/>
              <a:rect l="l" t="t" r="r" b="b"/>
              <a:pathLst>
                <a:path w="10596753" h="1077341">
                  <a:moveTo>
                    <a:pt x="0" y="0"/>
                  </a:moveTo>
                  <a:lnTo>
                    <a:pt x="10596753" y="0"/>
                  </a:lnTo>
                  <a:lnTo>
                    <a:pt x="10596753" y="1077341"/>
                  </a:lnTo>
                  <a:lnTo>
                    <a:pt x="0" y="1077341"/>
                  </a:lnTo>
                  <a:close/>
                </a:path>
              </a:pathLst>
            </a:custGeom>
            <a:solidFill>
              <a:srgbClr val="F0EDE6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299572" y="7585472"/>
            <a:ext cx="3366935" cy="449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DevOps &amp; Cloud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99572" y="8112023"/>
            <a:ext cx="7409107" cy="496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062" b="1">
                <a:solidFill>
                  <a:srgbClr val="2C2821"/>
                </a:solidFill>
                <a:latin typeface="Lora Bold"/>
                <a:ea typeface="Lora Bold"/>
                <a:cs typeface="Lora Bold"/>
                <a:sym typeface="Lora Bold"/>
              </a:rPr>
              <a:t>Careers:</a:t>
            </a:r>
            <a:r>
              <a:rPr lang="en-US" sz="2062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 Cloud Engineer, DevOps Engineer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99572" y="8685609"/>
            <a:ext cx="7409107" cy="496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062" b="1">
                <a:solidFill>
                  <a:srgbClr val="2C2821"/>
                </a:solidFill>
                <a:latin typeface="Lora Bold"/>
                <a:ea typeface="Lora Bold"/>
                <a:cs typeface="Lora Bold"/>
                <a:sym typeface="Lora Bold"/>
              </a:rPr>
              <a:t>Keywords:</a:t>
            </a:r>
            <a:r>
              <a:rPr lang="en-US" sz="2062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 DevOps, Cloud, Infrastructure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9252795" y="6493078"/>
            <a:ext cx="8062017" cy="3015253"/>
            <a:chOff x="0" y="0"/>
            <a:chExt cx="10749356" cy="4020337"/>
          </a:xfrm>
        </p:grpSpPr>
        <p:sp>
          <p:nvSpPr>
            <p:cNvPr id="33" name="Freeform 33"/>
            <p:cNvSpPr/>
            <p:nvPr/>
          </p:nvSpPr>
          <p:spPr>
            <a:xfrm>
              <a:off x="25400" y="25400"/>
              <a:ext cx="10698607" cy="3969512"/>
            </a:xfrm>
            <a:custGeom>
              <a:avLst/>
              <a:gdLst/>
              <a:ahLst/>
              <a:cxnLst/>
              <a:rect l="l" t="t" r="r" b="b"/>
              <a:pathLst>
                <a:path w="10698607" h="3969512">
                  <a:moveTo>
                    <a:pt x="0" y="53848"/>
                  </a:moveTo>
                  <a:cubicBezTo>
                    <a:pt x="0" y="24130"/>
                    <a:pt x="24257" y="0"/>
                    <a:pt x="54356" y="0"/>
                  </a:cubicBezTo>
                  <a:lnTo>
                    <a:pt x="10644251" y="0"/>
                  </a:lnTo>
                  <a:cubicBezTo>
                    <a:pt x="10674223" y="0"/>
                    <a:pt x="10698607" y="24130"/>
                    <a:pt x="10698607" y="53848"/>
                  </a:cubicBezTo>
                  <a:lnTo>
                    <a:pt x="10698607" y="3915664"/>
                  </a:lnTo>
                  <a:cubicBezTo>
                    <a:pt x="10698607" y="3945382"/>
                    <a:pt x="10674350" y="3969512"/>
                    <a:pt x="10644251" y="3969512"/>
                  </a:cubicBezTo>
                  <a:lnTo>
                    <a:pt x="54356" y="3969512"/>
                  </a:lnTo>
                  <a:cubicBezTo>
                    <a:pt x="24384" y="3969512"/>
                    <a:pt x="0" y="3945382"/>
                    <a:pt x="0" y="3915664"/>
                  </a:cubicBezTo>
                  <a:close/>
                </a:path>
              </a:pathLst>
            </a:custGeom>
            <a:solidFill>
              <a:srgbClr val="FCFBF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34"/>
            <p:cNvSpPr/>
            <p:nvPr/>
          </p:nvSpPr>
          <p:spPr>
            <a:xfrm>
              <a:off x="0" y="0"/>
              <a:ext cx="10749407" cy="4020312"/>
            </a:xfrm>
            <a:custGeom>
              <a:avLst/>
              <a:gdLst/>
              <a:ahLst/>
              <a:cxnLst/>
              <a:rect l="l" t="t" r="r" b="b"/>
              <a:pathLst>
                <a:path w="10749407" h="4020312">
                  <a:moveTo>
                    <a:pt x="0" y="79248"/>
                  </a:moveTo>
                  <a:cubicBezTo>
                    <a:pt x="0" y="35306"/>
                    <a:pt x="35814" y="0"/>
                    <a:pt x="79756" y="0"/>
                  </a:cubicBezTo>
                  <a:lnTo>
                    <a:pt x="10669651" y="0"/>
                  </a:lnTo>
                  <a:lnTo>
                    <a:pt x="10669651" y="25400"/>
                  </a:lnTo>
                  <a:lnTo>
                    <a:pt x="10669651" y="0"/>
                  </a:lnTo>
                  <a:cubicBezTo>
                    <a:pt x="10713466" y="0"/>
                    <a:pt x="10749407" y="35306"/>
                    <a:pt x="10749407" y="79248"/>
                  </a:cubicBezTo>
                  <a:lnTo>
                    <a:pt x="10724007" y="79248"/>
                  </a:lnTo>
                  <a:lnTo>
                    <a:pt x="10749407" y="79248"/>
                  </a:lnTo>
                  <a:lnTo>
                    <a:pt x="10749407" y="3941064"/>
                  </a:lnTo>
                  <a:lnTo>
                    <a:pt x="10724007" y="3941064"/>
                  </a:lnTo>
                  <a:lnTo>
                    <a:pt x="10749407" y="3941064"/>
                  </a:lnTo>
                  <a:cubicBezTo>
                    <a:pt x="10749407" y="3985006"/>
                    <a:pt x="10713593" y="4020312"/>
                    <a:pt x="10669651" y="4020312"/>
                  </a:cubicBezTo>
                  <a:lnTo>
                    <a:pt x="10669651" y="3994912"/>
                  </a:lnTo>
                  <a:lnTo>
                    <a:pt x="10669651" y="4020312"/>
                  </a:lnTo>
                  <a:lnTo>
                    <a:pt x="79756" y="4020312"/>
                  </a:lnTo>
                  <a:lnTo>
                    <a:pt x="79756" y="3994912"/>
                  </a:lnTo>
                  <a:lnTo>
                    <a:pt x="79756" y="4020312"/>
                  </a:lnTo>
                  <a:cubicBezTo>
                    <a:pt x="35941" y="4020312"/>
                    <a:pt x="0" y="3985006"/>
                    <a:pt x="0" y="3941064"/>
                  </a:cubicBezTo>
                  <a:lnTo>
                    <a:pt x="0" y="79248"/>
                  </a:lnTo>
                  <a:lnTo>
                    <a:pt x="25400" y="79248"/>
                  </a:lnTo>
                  <a:lnTo>
                    <a:pt x="0" y="79248"/>
                  </a:lnTo>
                  <a:moveTo>
                    <a:pt x="50800" y="79248"/>
                  </a:moveTo>
                  <a:lnTo>
                    <a:pt x="50800" y="3941064"/>
                  </a:lnTo>
                  <a:lnTo>
                    <a:pt x="25400" y="3941064"/>
                  </a:lnTo>
                  <a:lnTo>
                    <a:pt x="50800" y="3941064"/>
                  </a:lnTo>
                  <a:cubicBezTo>
                    <a:pt x="50800" y="3956558"/>
                    <a:pt x="63500" y="3969512"/>
                    <a:pt x="79756" y="3969512"/>
                  </a:cubicBezTo>
                  <a:lnTo>
                    <a:pt x="10669651" y="3969512"/>
                  </a:lnTo>
                  <a:cubicBezTo>
                    <a:pt x="10685780" y="3969512"/>
                    <a:pt x="10698607" y="3956558"/>
                    <a:pt x="10698607" y="3941064"/>
                  </a:cubicBezTo>
                  <a:lnTo>
                    <a:pt x="10698607" y="79248"/>
                  </a:lnTo>
                  <a:cubicBezTo>
                    <a:pt x="10698607" y="63754"/>
                    <a:pt x="10685907" y="50800"/>
                    <a:pt x="10669651" y="50800"/>
                  </a:cubicBezTo>
                  <a:lnTo>
                    <a:pt x="79756" y="50800"/>
                  </a:lnTo>
                  <a:lnTo>
                    <a:pt x="79756" y="25400"/>
                  </a:lnTo>
                  <a:lnTo>
                    <a:pt x="79756" y="50800"/>
                  </a:lnTo>
                  <a:cubicBezTo>
                    <a:pt x="63500" y="50800"/>
                    <a:pt x="50800" y="63754"/>
                    <a:pt x="50800" y="79248"/>
                  </a:cubicBezTo>
                  <a:close/>
                </a:path>
              </a:pathLst>
            </a:custGeom>
            <a:solidFill>
              <a:srgbClr val="D6D3CC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309945" y="6550228"/>
            <a:ext cx="7947717" cy="807987"/>
            <a:chOff x="0" y="0"/>
            <a:chExt cx="10596956" cy="1077316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0597007" cy="1077341"/>
            </a:xfrm>
            <a:custGeom>
              <a:avLst/>
              <a:gdLst/>
              <a:ahLst/>
              <a:cxnLst/>
              <a:rect l="l" t="t" r="r" b="b"/>
              <a:pathLst>
                <a:path w="10597007" h="1077341">
                  <a:moveTo>
                    <a:pt x="0" y="0"/>
                  </a:moveTo>
                  <a:lnTo>
                    <a:pt x="10597007" y="0"/>
                  </a:lnTo>
                  <a:lnTo>
                    <a:pt x="10597007" y="1077341"/>
                  </a:lnTo>
                  <a:lnTo>
                    <a:pt x="0" y="1077341"/>
                  </a:lnTo>
                  <a:close/>
                </a:path>
              </a:pathLst>
            </a:custGeom>
            <a:solidFill>
              <a:srgbClr val="F0EDE6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9579178" y="7585472"/>
            <a:ext cx="3366935" cy="449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Robotics &amp; Systems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579178" y="8112023"/>
            <a:ext cx="7409259" cy="496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062" b="1">
                <a:solidFill>
                  <a:srgbClr val="2C2821"/>
                </a:solidFill>
                <a:latin typeface="Lora Bold"/>
                <a:ea typeface="Lora Bold"/>
                <a:cs typeface="Lora Bold"/>
                <a:sym typeface="Lora Bold"/>
              </a:rPr>
              <a:t>Careers:</a:t>
            </a:r>
            <a:r>
              <a:rPr lang="en-US" sz="2062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 Robotics Engineer, Embedded Systems Engineer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579178" y="8685609"/>
            <a:ext cx="7409259" cy="496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062" b="1">
                <a:solidFill>
                  <a:srgbClr val="2C2821"/>
                </a:solidFill>
                <a:latin typeface="Lora Bold"/>
                <a:ea typeface="Lora Bold"/>
                <a:cs typeface="Lora Bold"/>
                <a:sym typeface="Lora Bold"/>
              </a:rPr>
              <a:t>Keywords:</a:t>
            </a:r>
            <a:r>
              <a:rPr lang="en-US" sz="2062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 Robotics, Embedded Systems, IoT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1F2DE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CFBF8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609895" y="460029"/>
            <a:ext cx="2971505" cy="372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Decision Tree Classifier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42207" y="1327995"/>
            <a:ext cx="1699022" cy="212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lang="en-US" sz="1500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How It Works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71500" y="2084937"/>
            <a:ext cx="8134922" cy="6074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37"/>
              </a:lnSpc>
            </a:pPr>
            <a:r>
              <a:rPr lang="en-US" sz="1500" dirty="0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  A </a:t>
            </a:r>
            <a:r>
              <a:rPr lang="en-US" dirty="0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supervised model that looks at student details like age</a:t>
            </a:r>
          </a:p>
          <a:p>
            <a:pPr algn="l">
              <a:lnSpc>
                <a:spcPts val="937"/>
              </a:lnSpc>
            </a:pPr>
            <a:endParaRPr lang="en-US" dirty="0">
              <a:solidFill>
                <a:srgbClr val="2C2821"/>
              </a:solidFill>
              <a:latin typeface="Lora"/>
              <a:ea typeface="Lora"/>
              <a:cs typeface="Lora"/>
              <a:sym typeface="Lora"/>
            </a:endParaRPr>
          </a:p>
          <a:p>
            <a:pPr algn="l">
              <a:lnSpc>
                <a:spcPts val="937"/>
              </a:lnSpc>
            </a:pPr>
            <a:r>
              <a:rPr lang="en-US" dirty="0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 stream, CGPA, skills, and interests. It follows simple rules</a:t>
            </a:r>
          </a:p>
          <a:p>
            <a:pPr algn="l">
              <a:lnSpc>
                <a:spcPts val="937"/>
              </a:lnSpc>
            </a:pPr>
            <a:endParaRPr lang="en-US" dirty="0">
              <a:solidFill>
                <a:srgbClr val="2C2821"/>
              </a:solidFill>
              <a:latin typeface="Lora"/>
              <a:ea typeface="Lora"/>
              <a:cs typeface="Lora"/>
              <a:sym typeface="Lora"/>
            </a:endParaRPr>
          </a:p>
          <a:p>
            <a:pPr algn="l">
              <a:lnSpc>
                <a:spcPts val="937"/>
              </a:lnSpc>
            </a:pPr>
            <a:r>
              <a:rPr lang="en-US" dirty="0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 to find the best career path.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3612120" y="399860"/>
            <a:ext cx="4104380" cy="5472408"/>
            <a:chOff x="0" y="0"/>
            <a:chExt cx="5472506" cy="7296544"/>
          </a:xfrm>
        </p:grpSpPr>
        <p:sp>
          <p:nvSpPr>
            <p:cNvPr id="10" name="Freeform 10" descr="preencoded.png"/>
            <p:cNvSpPr/>
            <p:nvPr/>
          </p:nvSpPr>
          <p:spPr>
            <a:xfrm>
              <a:off x="0" y="0"/>
              <a:ext cx="5472557" cy="7296531"/>
            </a:xfrm>
            <a:custGeom>
              <a:avLst/>
              <a:gdLst/>
              <a:ahLst/>
              <a:cxnLst/>
              <a:rect l="l" t="t" r="r" b="b"/>
              <a:pathLst>
                <a:path w="5472557" h="7296531">
                  <a:moveTo>
                    <a:pt x="0" y="0"/>
                  </a:moveTo>
                  <a:lnTo>
                    <a:pt x="5472557" y="0"/>
                  </a:lnTo>
                  <a:lnTo>
                    <a:pt x="5472557" y="7296531"/>
                  </a:lnTo>
                  <a:lnTo>
                    <a:pt x="0" y="72965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9" b="-3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609895" y="6391332"/>
            <a:ext cx="2265464" cy="231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4"/>
              </a:lnSpc>
            </a:pPr>
            <a:r>
              <a:rPr lang="en-US" sz="1312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Why We Chose Decision Trees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605133" y="6699666"/>
            <a:ext cx="5668718" cy="857545"/>
            <a:chOff x="0" y="0"/>
            <a:chExt cx="7558291" cy="1143394"/>
          </a:xfrm>
        </p:grpSpPr>
        <p:sp>
          <p:nvSpPr>
            <p:cNvPr id="13" name="Freeform 13"/>
            <p:cNvSpPr/>
            <p:nvPr/>
          </p:nvSpPr>
          <p:spPr>
            <a:xfrm>
              <a:off x="6350" y="6350"/>
              <a:ext cx="7545578" cy="1130681"/>
            </a:xfrm>
            <a:custGeom>
              <a:avLst/>
              <a:gdLst/>
              <a:ahLst/>
              <a:cxnLst/>
              <a:rect l="l" t="t" r="r" b="b"/>
              <a:pathLst>
                <a:path w="7545578" h="1130681">
                  <a:moveTo>
                    <a:pt x="0" y="22606"/>
                  </a:moveTo>
                  <a:cubicBezTo>
                    <a:pt x="0" y="10160"/>
                    <a:pt x="10287" y="0"/>
                    <a:pt x="22860" y="0"/>
                  </a:cubicBezTo>
                  <a:lnTo>
                    <a:pt x="7522718" y="0"/>
                  </a:lnTo>
                  <a:cubicBezTo>
                    <a:pt x="7535291" y="0"/>
                    <a:pt x="7545578" y="10160"/>
                    <a:pt x="7545578" y="22606"/>
                  </a:cubicBezTo>
                  <a:lnTo>
                    <a:pt x="7545578" y="1108075"/>
                  </a:lnTo>
                  <a:cubicBezTo>
                    <a:pt x="7545578" y="1120648"/>
                    <a:pt x="7535291" y="1130681"/>
                    <a:pt x="7522718" y="1130681"/>
                  </a:cubicBezTo>
                  <a:lnTo>
                    <a:pt x="22860" y="1130681"/>
                  </a:lnTo>
                  <a:cubicBezTo>
                    <a:pt x="10287" y="1130681"/>
                    <a:pt x="0" y="1120521"/>
                    <a:pt x="0" y="1108075"/>
                  </a:cubicBezTo>
                  <a:close/>
                </a:path>
              </a:pathLst>
            </a:custGeom>
            <a:solidFill>
              <a:srgbClr val="FCFBF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0" y="0"/>
              <a:ext cx="7558278" cy="1143381"/>
            </a:xfrm>
            <a:custGeom>
              <a:avLst/>
              <a:gdLst/>
              <a:ahLst/>
              <a:cxnLst/>
              <a:rect l="l" t="t" r="r" b="b"/>
              <a:pathLst>
                <a:path w="7558278" h="1143381">
                  <a:moveTo>
                    <a:pt x="0" y="28956"/>
                  </a:moveTo>
                  <a:cubicBezTo>
                    <a:pt x="0" y="12954"/>
                    <a:pt x="13081" y="0"/>
                    <a:pt x="29210" y="0"/>
                  </a:cubicBezTo>
                  <a:lnTo>
                    <a:pt x="7529068" y="0"/>
                  </a:lnTo>
                  <a:lnTo>
                    <a:pt x="7529068" y="6350"/>
                  </a:lnTo>
                  <a:lnTo>
                    <a:pt x="7529068" y="0"/>
                  </a:lnTo>
                  <a:cubicBezTo>
                    <a:pt x="7545198" y="0"/>
                    <a:pt x="7558278" y="12954"/>
                    <a:pt x="7558278" y="28956"/>
                  </a:cubicBezTo>
                  <a:lnTo>
                    <a:pt x="7551928" y="28956"/>
                  </a:lnTo>
                  <a:lnTo>
                    <a:pt x="7558278" y="28956"/>
                  </a:lnTo>
                  <a:lnTo>
                    <a:pt x="7558278" y="1114425"/>
                  </a:lnTo>
                  <a:lnTo>
                    <a:pt x="7551928" y="1114425"/>
                  </a:lnTo>
                  <a:lnTo>
                    <a:pt x="7558278" y="1114425"/>
                  </a:lnTo>
                  <a:cubicBezTo>
                    <a:pt x="7558278" y="1130554"/>
                    <a:pt x="7545198" y="1143381"/>
                    <a:pt x="7529068" y="1143381"/>
                  </a:cubicBezTo>
                  <a:lnTo>
                    <a:pt x="7529068" y="1137031"/>
                  </a:lnTo>
                  <a:lnTo>
                    <a:pt x="7529068" y="1143381"/>
                  </a:lnTo>
                  <a:lnTo>
                    <a:pt x="29210" y="1143381"/>
                  </a:lnTo>
                  <a:lnTo>
                    <a:pt x="29210" y="1137031"/>
                  </a:lnTo>
                  <a:lnTo>
                    <a:pt x="29210" y="1143381"/>
                  </a:lnTo>
                  <a:cubicBezTo>
                    <a:pt x="13081" y="1143381"/>
                    <a:pt x="0" y="1130427"/>
                    <a:pt x="0" y="1114425"/>
                  </a:cubicBezTo>
                  <a:lnTo>
                    <a:pt x="0" y="28956"/>
                  </a:lnTo>
                  <a:lnTo>
                    <a:pt x="6350" y="28956"/>
                  </a:lnTo>
                  <a:lnTo>
                    <a:pt x="0" y="28956"/>
                  </a:lnTo>
                  <a:moveTo>
                    <a:pt x="12700" y="28956"/>
                  </a:moveTo>
                  <a:lnTo>
                    <a:pt x="12700" y="1114425"/>
                  </a:lnTo>
                  <a:lnTo>
                    <a:pt x="6350" y="1114425"/>
                  </a:lnTo>
                  <a:lnTo>
                    <a:pt x="12700" y="1114425"/>
                  </a:lnTo>
                  <a:cubicBezTo>
                    <a:pt x="12700" y="1123315"/>
                    <a:pt x="20066" y="1130681"/>
                    <a:pt x="29210" y="1130681"/>
                  </a:cubicBezTo>
                  <a:lnTo>
                    <a:pt x="7529068" y="1130681"/>
                  </a:lnTo>
                  <a:cubicBezTo>
                    <a:pt x="7538212" y="1130681"/>
                    <a:pt x="7545578" y="1123315"/>
                    <a:pt x="7545578" y="1114425"/>
                  </a:cubicBezTo>
                  <a:lnTo>
                    <a:pt x="7545578" y="28956"/>
                  </a:lnTo>
                  <a:cubicBezTo>
                    <a:pt x="7545578" y="20066"/>
                    <a:pt x="7538212" y="12700"/>
                    <a:pt x="7529068" y="12700"/>
                  </a:cubicBezTo>
                  <a:lnTo>
                    <a:pt x="29210" y="12700"/>
                  </a:lnTo>
                  <a:lnTo>
                    <a:pt x="29210" y="6350"/>
                  </a:lnTo>
                  <a:lnTo>
                    <a:pt x="29210" y="12700"/>
                  </a:lnTo>
                  <a:cubicBezTo>
                    <a:pt x="20066" y="12700"/>
                    <a:pt x="12700" y="20066"/>
                    <a:pt x="12700" y="28956"/>
                  </a:cubicBezTo>
                  <a:close/>
                </a:path>
              </a:pathLst>
            </a:custGeom>
            <a:solidFill>
              <a:srgbClr val="D6D3CC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19420" y="6832702"/>
            <a:ext cx="5640143" cy="339776"/>
            <a:chOff x="0" y="0"/>
            <a:chExt cx="7520191" cy="45303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520178" cy="452882"/>
            </a:xfrm>
            <a:custGeom>
              <a:avLst/>
              <a:gdLst/>
              <a:ahLst/>
              <a:cxnLst/>
              <a:rect l="l" t="t" r="r" b="b"/>
              <a:pathLst>
                <a:path w="7520178" h="452882">
                  <a:moveTo>
                    <a:pt x="0" y="7366"/>
                  </a:moveTo>
                  <a:cubicBezTo>
                    <a:pt x="0" y="3302"/>
                    <a:pt x="3302" y="0"/>
                    <a:pt x="7366" y="0"/>
                  </a:cubicBezTo>
                  <a:lnTo>
                    <a:pt x="7512812" y="0"/>
                  </a:lnTo>
                  <a:cubicBezTo>
                    <a:pt x="7516876" y="0"/>
                    <a:pt x="7520178" y="3302"/>
                    <a:pt x="7520178" y="7366"/>
                  </a:cubicBezTo>
                  <a:lnTo>
                    <a:pt x="7520178" y="445516"/>
                  </a:lnTo>
                  <a:cubicBezTo>
                    <a:pt x="7520178" y="449580"/>
                    <a:pt x="7516876" y="452882"/>
                    <a:pt x="7512812" y="452882"/>
                  </a:cubicBezTo>
                  <a:lnTo>
                    <a:pt x="7366" y="452882"/>
                  </a:lnTo>
                  <a:cubicBezTo>
                    <a:pt x="3302" y="452882"/>
                    <a:pt x="0" y="449580"/>
                    <a:pt x="0" y="445516"/>
                  </a:cubicBezTo>
                  <a:close/>
                </a:path>
              </a:pathLst>
            </a:custGeom>
            <a:solidFill>
              <a:srgbClr val="F0EDE6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3354591" y="6905920"/>
            <a:ext cx="169812" cy="202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lang="en-US" sz="1312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1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32682" y="7198671"/>
            <a:ext cx="1415806" cy="195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74"/>
              </a:lnSpc>
            </a:pPr>
            <a:r>
              <a:rPr lang="en-US" sz="1062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Mixed Data Types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32682" y="7431138"/>
            <a:ext cx="5413619" cy="117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7"/>
              </a:lnSpc>
            </a:pPr>
            <a:r>
              <a:rPr lang="en-US" sz="875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It can handle both number data and category data without extra setup.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6309570" y="6818414"/>
            <a:ext cx="5668718" cy="857545"/>
            <a:chOff x="0" y="0"/>
            <a:chExt cx="7558291" cy="1143394"/>
          </a:xfrm>
        </p:grpSpPr>
        <p:sp>
          <p:nvSpPr>
            <p:cNvPr id="21" name="Freeform 21"/>
            <p:cNvSpPr/>
            <p:nvPr/>
          </p:nvSpPr>
          <p:spPr>
            <a:xfrm>
              <a:off x="6350" y="6350"/>
              <a:ext cx="7545578" cy="1130681"/>
            </a:xfrm>
            <a:custGeom>
              <a:avLst/>
              <a:gdLst/>
              <a:ahLst/>
              <a:cxnLst/>
              <a:rect l="l" t="t" r="r" b="b"/>
              <a:pathLst>
                <a:path w="7545578" h="1130681">
                  <a:moveTo>
                    <a:pt x="0" y="22606"/>
                  </a:moveTo>
                  <a:cubicBezTo>
                    <a:pt x="0" y="10160"/>
                    <a:pt x="10287" y="0"/>
                    <a:pt x="22860" y="0"/>
                  </a:cubicBezTo>
                  <a:lnTo>
                    <a:pt x="7522718" y="0"/>
                  </a:lnTo>
                  <a:cubicBezTo>
                    <a:pt x="7535291" y="0"/>
                    <a:pt x="7545578" y="10160"/>
                    <a:pt x="7545578" y="22606"/>
                  </a:cubicBezTo>
                  <a:lnTo>
                    <a:pt x="7545578" y="1108075"/>
                  </a:lnTo>
                  <a:cubicBezTo>
                    <a:pt x="7545578" y="1120648"/>
                    <a:pt x="7535291" y="1130681"/>
                    <a:pt x="7522718" y="1130681"/>
                  </a:cubicBezTo>
                  <a:lnTo>
                    <a:pt x="22860" y="1130681"/>
                  </a:lnTo>
                  <a:cubicBezTo>
                    <a:pt x="10287" y="1130681"/>
                    <a:pt x="0" y="1120521"/>
                    <a:pt x="0" y="1108075"/>
                  </a:cubicBezTo>
                  <a:close/>
                </a:path>
              </a:pathLst>
            </a:custGeom>
            <a:solidFill>
              <a:srgbClr val="FCFBF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0" y="0"/>
              <a:ext cx="7558278" cy="1143381"/>
            </a:xfrm>
            <a:custGeom>
              <a:avLst/>
              <a:gdLst/>
              <a:ahLst/>
              <a:cxnLst/>
              <a:rect l="l" t="t" r="r" b="b"/>
              <a:pathLst>
                <a:path w="7558278" h="1143381">
                  <a:moveTo>
                    <a:pt x="0" y="28956"/>
                  </a:moveTo>
                  <a:cubicBezTo>
                    <a:pt x="0" y="12954"/>
                    <a:pt x="13081" y="0"/>
                    <a:pt x="29210" y="0"/>
                  </a:cubicBezTo>
                  <a:lnTo>
                    <a:pt x="7529068" y="0"/>
                  </a:lnTo>
                  <a:lnTo>
                    <a:pt x="7529068" y="6350"/>
                  </a:lnTo>
                  <a:lnTo>
                    <a:pt x="7529068" y="0"/>
                  </a:lnTo>
                  <a:cubicBezTo>
                    <a:pt x="7545198" y="0"/>
                    <a:pt x="7558278" y="12954"/>
                    <a:pt x="7558278" y="28956"/>
                  </a:cubicBezTo>
                  <a:lnTo>
                    <a:pt x="7551928" y="28956"/>
                  </a:lnTo>
                  <a:lnTo>
                    <a:pt x="7558278" y="28956"/>
                  </a:lnTo>
                  <a:lnTo>
                    <a:pt x="7558278" y="1114425"/>
                  </a:lnTo>
                  <a:lnTo>
                    <a:pt x="7551928" y="1114425"/>
                  </a:lnTo>
                  <a:lnTo>
                    <a:pt x="7558278" y="1114425"/>
                  </a:lnTo>
                  <a:cubicBezTo>
                    <a:pt x="7558278" y="1130554"/>
                    <a:pt x="7545198" y="1143381"/>
                    <a:pt x="7529068" y="1143381"/>
                  </a:cubicBezTo>
                  <a:lnTo>
                    <a:pt x="7529068" y="1137031"/>
                  </a:lnTo>
                  <a:lnTo>
                    <a:pt x="7529068" y="1143381"/>
                  </a:lnTo>
                  <a:lnTo>
                    <a:pt x="29210" y="1143381"/>
                  </a:lnTo>
                  <a:lnTo>
                    <a:pt x="29210" y="1137031"/>
                  </a:lnTo>
                  <a:lnTo>
                    <a:pt x="29210" y="1143381"/>
                  </a:lnTo>
                  <a:cubicBezTo>
                    <a:pt x="13081" y="1143381"/>
                    <a:pt x="0" y="1130427"/>
                    <a:pt x="0" y="1114425"/>
                  </a:cubicBezTo>
                  <a:lnTo>
                    <a:pt x="0" y="28956"/>
                  </a:lnTo>
                  <a:lnTo>
                    <a:pt x="6350" y="28956"/>
                  </a:lnTo>
                  <a:lnTo>
                    <a:pt x="0" y="28956"/>
                  </a:lnTo>
                  <a:moveTo>
                    <a:pt x="12700" y="28956"/>
                  </a:moveTo>
                  <a:lnTo>
                    <a:pt x="12700" y="1114425"/>
                  </a:lnTo>
                  <a:lnTo>
                    <a:pt x="6350" y="1114425"/>
                  </a:lnTo>
                  <a:lnTo>
                    <a:pt x="12700" y="1114425"/>
                  </a:lnTo>
                  <a:cubicBezTo>
                    <a:pt x="12700" y="1123315"/>
                    <a:pt x="20066" y="1130681"/>
                    <a:pt x="29210" y="1130681"/>
                  </a:cubicBezTo>
                  <a:lnTo>
                    <a:pt x="7529068" y="1130681"/>
                  </a:lnTo>
                  <a:cubicBezTo>
                    <a:pt x="7538212" y="1130681"/>
                    <a:pt x="7545578" y="1123315"/>
                    <a:pt x="7545578" y="1114425"/>
                  </a:cubicBezTo>
                  <a:lnTo>
                    <a:pt x="7545578" y="28956"/>
                  </a:lnTo>
                  <a:cubicBezTo>
                    <a:pt x="7545578" y="20066"/>
                    <a:pt x="7538212" y="12700"/>
                    <a:pt x="7529068" y="12700"/>
                  </a:cubicBezTo>
                  <a:lnTo>
                    <a:pt x="29210" y="12700"/>
                  </a:lnTo>
                  <a:lnTo>
                    <a:pt x="29210" y="6350"/>
                  </a:lnTo>
                  <a:lnTo>
                    <a:pt x="29210" y="12700"/>
                  </a:lnTo>
                  <a:cubicBezTo>
                    <a:pt x="20066" y="12700"/>
                    <a:pt x="12700" y="20066"/>
                    <a:pt x="12700" y="28956"/>
                  </a:cubicBezTo>
                  <a:close/>
                </a:path>
              </a:pathLst>
            </a:custGeom>
            <a:solidFill>
              <a:srgbClr val="D6D3CC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314332" y="6804727"/>
            <a:ext cx="5640143" cy="339776"/>
            <a:chOff x="0" y="0"/>
            <a:chExt cx="7520191" cy="45303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7520178" cy="452882"/>
            </a:xfrm>
            <a:custGeom>
              <a:avLst/>
              <a:gdLst/>
              <a:ahLst/>
              <a:cxnLst/>
              <a:rect l="l" t="t" r="r" b="b"/>
              <a:pathLst>
                <a:path w="7520178" h="452882">
                  <a:moveTo>
                    <a:pt x="0" y="7366"/>
                  </a:moveTo>
                  <a:cubicBezTo>
                    <a:pt x="0" y="3302"/>
                    <a:pt x="3302" y="0"/>
                    <a:pt x="7366" y="0"/>
                  </a:cubicBezTo>
                  <a:lnTo>
                    <a:pt x="7512812" y="0"/>
                  </a:lnTo>
                  <a:cubicBezTo>
                    <a:pt x="7516876" y="0"/>
                    <a:pt x="7520178" y="3302"/>
                    <a:pt x="7520178" y="7366"/>
                  </a:cubicBezTo>
                  <a:lnTo>
                    <a:pt x="7520178" y="445516"/>
                  </a:lnTo>
                  <a:cubicBezTo>
                    <a:pt x="7520178" y="449580"/>
                    <a:pt x="7516876" y="452882"/>
                    <a:pt x="7512812" y="452882"/>
                  </a:cubicBezTo>
                  <a:lnTo>
                    <a:pt x="7366" y="452882"/>
                  </a:lnTo>
                  <a:cubicBezTo>
                    <a:pt x="3302" y="452882"/>
                    <a:pt x="0" y="449580"/>
                    <a:pt x="0" y="445516"/>
                  </a:cubicBezTo>
                  <a:close/>
                </a:path>
              </a:pathLst>
            </a:custGeom>
            <a:solidFill>
              <a:srgbClr val="F0EDE6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9059018" y="6905920"/>
            <a:ext cx="169812" cy="202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lang="en-US" sz="1312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2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437109" y="7198671"/>
            <a:ext cx="1415806" cy="195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74"/>
              </a:lnSpc>
            </a:pPr>
            <a:r>
              <a:rPr lang="en-US" sz="1062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Easy to Understand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437109" y="7431138"/>
            <a:ext cx="5413619" cy="117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7"/>
              </a:lnSpc>
            </a:pPr>
            <a:r>
              <a:rPr lang="en-US" sz="875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Each step is visible, so the results are easy to follow and trust.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12013997" y="6818414"/>
            <a:ext cx="5668718" cy="857545"/>
            <a:chOff x="0" y="0"/>
            <a:chExt cx="7558291" cy="1143394"/>
          </a:xfrm>
        </p:grpSpPr>
        <p:sp>
          <p:nvSpPr>
            <p:cNvPr id="29" name="Freeform 29"/>
            <p:cNvSpPr/>
            <p:nvPr/>
          </p:nvSpPr>
          <p:spPr>
            <a:xfrm>
              <a:off x="6350" y="6350"/>
              <a:ext cx="7545578" cy="1130681"/>
            </a:xfrm>
            <a:custGeom>
              <a:avLst/>
              <a:gdLst/>
              <a:ahLst/>
              <a:cxnLst/>
              <a:rect l="l" t="t" r="r" b="b"/>
              <a:pathLst>
                <a:path w="7545578" h="1130681">
                  <a:moveTo>
                    <a:pt x="0" y="22606"/>
                  </a:moveTo>
                  <a:cubicBezTo>
                    <a:pt x="0" y="10160"/>
                    <a:pt x="10287" y="0"/>
                    <a:pt x="22860" y="0"/>
                  </a:cubicBezTo>
                  <a:lnTo>
                    <a:pt x="7522718" y="0"/>
                  </a:lnTo>
                  <a:cubicBezTo>
                    <a:pt x="7535291" y="0"/>
                    <a:pt x="7545578" y="10160"/>
                    <a:pt x="7545578" y="22606"/>
                  </a:cubicBezTo>
                  <a:lnTo>
                    <a:pt x="7545578" y="1108075"/>
                  </a:lnTo>
                  <a:cubicBezTo>
                    <a:pt x="7545578" y="1120648"/>
                    <a:pt x="7535291" y="1130681"/>
                    <a:pt x="7522718" y="1130681"/>
                  </a:cubicBezTo>
                  <a:lnTo>
                    <a:pt x="22860" y="1130681"/>
                  </a:lnTo>
                  <a:cubicBezTo>
                    <a:pt x="10287" y="1130681"/>
                    <a:pt x="0" y="1120521"/>
                    <a:pt x="0" y="1108075"/>
                  </a:cubicBezTo>
                  <a:close/>
                </a:path>
              </a:pathLst>
            </a:custGeom>
            <a:solidFill>
              <a:srgbClr val="FCFBF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30"/>
            <p:cNvSpPr/>
            <p:nvPr/>
          </p:nvSpPr>
          <p:spPr>
            <a:xfrm>
              <a:off x="0" y="0"/>
              <a:ext cx="7558278" cy="1143381"/>
            </a:xfrm>
            <a:custGeom>
              <a:avLst/>
              <a:gdLst/>
              <a:ahLst/>
              <a:cxnLst/>
              <a:rect l="l" t="t" r="r" b="b"/>
              <a:pathLst>
                <a:path w="7558278" h="1143381">
                  <a:moveTo>
                    <a:pt x="0" y="28956"/>
                  </a:moveTo>
                  <a:cubicBezTo>
                    <a:pt x="0" y="12954"/>
                    <a:pt x="13081" y="0"/>
                    <a:pt x="29210" y="0"/>
                  </a:cubicBezTo>
                  <a:lnTo>
                    <a:pt x="7529068" y="0"/>
                  </a:lnTo>
                  <a:lnTo>
                    <a:pt x="7529068" y="6350"/>
                  </a:lnTo>
                  <a:lnTo>
                    <a:pt x="7529068" y="0"/>
                  </a:lnTo>
                  <a:cubicBezTo>
                    <a:pt x="7545198" y="0"/>
                    <a:pt x="7558278" y="12954"/>
                    <a:pt x="7558278" y="28956"/>
                  </a:cubicBezTo>
                  <a:lnTo>
                    <a:pt x="7551928" y="28956"/>
                  </a:lnTo>
                  <a:lnTo>
                    <a:pt x="7558278" y="28956"/>
                  </a:lnTo>
                  <a:lnTo>
                    <a:pt x="7558278" y="1114425"/>
                  </a:lnTo>
                  <a:lnTo>
                    <a:pt x="7551928" y="1114425"/>
                  </a:lnTo>
                  <a:lnTo>
                    <a:pt x="7558278" y="1114425"/>
                  </a:lnTo>
                  <a:cubicBezTo>
                    <a:pt x="7558278" y="1130554"/>
                    <a:pt x="7545198" y="1143381"/>
                    <a:pt x="7529068" y="1143381"/>
                  </a:cubicBezTo>
                  <a:lnTo>
                    <a:pt x="7529068" y="1137031"/>
                  </a:lnTo>
                  <a:lnTo>
                    <a:pt x="7529068" y="1143381"/>
                  </a:lnTo>
                  <a:lnTo>
                    <a:pt x="29210" y="1143381"/>
                  </a:lnTo>
                  <a:lnTo>
                    <a:pt x="29210" y="1137031"/>
                  </a:lnTo>
                  <a:lnTo>
                    <a:pt x="29210" y="1143381"/>
                  </a:lnTo>
                  <a:cubicBezTo>
                    <a:pt x="13081" y="1143381"/>
                    <a:pt x="0" y="1130427"/>
                    <a:pt x="0" y="1114425"/>
                  </a:cubicBezTo>
                  <a:lnTo>
                    <a:pt x="0" y="28956"/>
                  </a:lnTo>
                  <a:lnTo>
                    <a:pt x="6350" y="28956"/>
                  </a:lnTo>
                  <a:lnTo>
                    <a:pt x="0" y="28956"/>
                  </a:lnTo>
                  <a:moveTo>
                    <a:pt x="12700" y="28956"/>
                  </a:moveTo>
                  <a:lnTo>
                    <a:pt x="12700" y="1114425"/>
                  </a:lnTo>
                  <a:lnTo>
                    <a:pt x="6350" y="1114425"/>
                  </a:lnTo>
                  <a:lnTo>
                    <a:pt x="12700" y="1114425"/>
                  </a:lnTo>
                  <a:cubicBezTo>
                    <a:pt x="12700" y="1123315"/>
                    <a:pt x="20066" y="1130681"/>
                    <a:pt x="29210" y="1130681"/>
                  </a:cubicBezTo>
                  <a:lnTo>
                    <a:pt x="7529068" y="1130681"/>
                  </a:lnTo>
                  <a:cubicBezTo>
                    <a:pt x="7538212" y="1130681"/>
                    <a:pt x="7545578" y="1123315"/>
                    <a:pt x="7545578" y="1114425"/>
                  </a:cubicBezTo>
                  <a:lnTo>
                    <a:pt x="7545578" y="28956"/>
                  </a:lnTo>
                  <a:cubicBezTo>
                    <a:pt x="7545578" y="20066"/>
                    <a:pt x="7538212" y="12700"/>
                    <a:pt x="7529068" y="12700"/>
                  </a:cubicBezTo>
                  <a:lnTo>
                    <a:pt x="29210" y="12700"/>
                  </a:lnTo>
                  <a:lnTo>
                    <a:pt x="29210" y="6350"/>
                  </a:lnTo>
                  <a:lnTo>
                    <a:pt x="29210" y="12700"/>
                  </a:lnTo>
                  <a:cubicBezTo>
                    <a:pt x="20066" y="12700"/>
                    <a:pt x="12700" y="20066"/>
                    <a:pt x="12700" y="28956"/>
                  </a:cubicBezTo>
                  <a:close/>
                </a:path>
              </a:pathLst>
            </a:custGeom>
            <a:solidFill>
              <a:srgbClr val="D6D3CC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2028284" y="6832702"/>
            <a:ext cx="5640143" cy="339776"/>
            <a:chOff x="0" y="0"/>
            <a:chExt cx="7520191" cy="453034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7520178" cy="452882"/>
            </a:xfrm>
            <a:custGeom>
              <a:avLst/>
              <a:gdLst/>
              <a:ahLst/>
              <a:cxnLst/>
              <a:rect l="l" t="t" r="r" b="b"/>
              <a:pathLst>
                <a:path w="7520178" h="452882">
                  <a:moveTo>
                    <a:pt x="0" y="7366"/>
                  </a:moveTo>
                  <a:cubicBezTo>
                    <a:pt x="0" y="3302"/>
                    <a:pt x="3302" y="0"/>
                    <a:pt x="7366" y="0"/>
                  </a:cubicBezTo>
                  <a:lnTo>
                    <a:pt x="7512812" y="0"/>
                  </a:lnTo>
                  <a:cubicBezTo>
                    <a:pt x="7516876" y="0"/>
                    <a:pt x="7520178" y="3302"/>
                    <a:pt x="7520178" y="7366"/>
                  </a:cubicBezTo>
                  <a:lnTo>
                    <a:pt x="7520178" y="445516"/>
                  </a:lnTo>
                  <a:cubicBezTo>
                    <a:pt x="7520178" y="449580"/>
                    <a:pt x="7516876" y="452882"/>
                    <a:pt x="7512812" y="452882"/>
                  </a:cubicBezTo>
                  <a:lnTo>
                    <a:pt x="7366" y="452882"/>
                  </a:lnTo>
                  <a:cubicBezTo>
                    <a:pt x="3302" y="452882"/>
                    <a:pt x="0" y="449580"/>
                    <a:pt x="0" y="445516"/>
                  </a:cubicBezTo>
                  <a:close/>
                </a:path>
              </a:pathLst>
            </a:custGeom>
            <a:solidFill>
              <a:srgbClr val="F0EDE6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4763455" y="6905920"/>
            <a:ext cx="169812" cy="202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lang="en-US" sz="1312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3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2141546" y="7198671"/>
            <a:ext cx="1415806" cy="195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74"/>
              </a:lnSpc>
            </a:pPr>
            <a:r>
              <a:rPr lang="en-US" sz="1062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Good for Small Data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2141546" y="7431138"/>
            <a:ext cx="5413619" cy="117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7"/>
              </a:lnSpc>
            </a:pPr>
            <a:r>
              <a:rPr lang="en-US" sz="875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It works well even when there is not much training data, which is common early on.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605133" y="7711678"/>
            <a:ext cx="5668718" cy="857545"/>
            <a:chOff x="0" y="0"/>
            <a:chExt cx="7558291" cy="1143394"/>
          </a:xfrm>
        </p:grpSpPr>
        <p:sp>
          <p:nvSpPr>
            <p:cNvPr id="37" name="Freeform 37"/>
            <p:cNvSpPr/>
            <p:nvPr/>
          </p:nvSpPr>
          <p:spPr>
            <a:xfrm>
              <a:off x="6350" y="6350"/>
              <a:ext cx="7545578" cy="1130681"/>
            </a:xfrm>
            <a:custGeom>
              <a:avLst/>
              <a:gdLst/>
              <a:ahLst/>
              <a:cxnLst/>
              <a:rect l="l" t="t" r="r" b="b"/>
              <a:pathLst>
                <a:path w="7545578" h="1130681">
                  <a:moveTo>
                    <a:pt x="0" y="22606"/>
                  </a:moveTo>
                  <a:cubicBezTo>
                    <a:pt x="0" y="10160"/>
                    <a:pt x="10287" y="0"/>
                    <a:pt x="22860" y="0"/>
                  </a:cubicBezTo>
                  <a:lnTo>
                    <a:pt x="7522718" y="0"/>
                  </a:lnTo>
                  <a:cubicBezTo>
                    <a:pt x="7535291" y="0"/>
                    <a:pt x="7545578" y="10160"/>
                    <a:pt x="7545578" y="22606"/>
                  </a:cubicBezTo>
                  <a:lnTo>
                    <a:pt x="7545578" y="1108075"/>
                  </a:lnTo>
                  <a:cubicBezTo>
                    <a:pt x="7545578" y="1120648"/>
                    <a:pt x="7535291" y="1130681"/>
                    <a:pt x="7522718" y="1130681"/>
                  </a:cubicBezTo>
                  <a:lnTo>
                    <a:pt x="22860" y="1130681"/>
                  </a:lnTo>
                  <a:cubicBezTo>
                    <a:pt x="10287" y="1130681"/>
                    <a:pt x="0" y="1120521"/>
                    <a:pt x="0" y="1108075"/>
                  </a:cubicBezTo>
                  <a:close/>
                </a:path>
              </a:pathLst>
            </a:custGeom>
            <a:solidFill>
              <a:srgbClr val="FCFBF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Freeform 38"/>
            <p:cNvSpPr/>
            <p:nvPr/>
          </p:nvSpPr>
          <p:spPr>
            <a:xfrm>
              <a:off x="0" y="0"/>
              <a:ext cx="7558278" cy="1143381"/>
            </a:xfrm>
            <a:custGeom>
              <a:avLst/>
              <a:gdLst/>
              <a:ahLst/>
              <a:cxnLst/>
              <a:rect l="l" t="t" r="r" b="b"/>
              <a:pathLst>
                <a:path w="7558278" h="1143381">
                  <a:moveTo>
                    <a:pt x="0" y="28956"/>
                  </a:moveTo>
                  <a:cubicBezTo>
                    <a:pt x="0" y="12954"/>
                    <a:pt x="13081" y="0"/>
                    <a:pt x="29210" y="0"/>
                  </a:cubicBezTo>
                  <a:lnTo>
                    <a:pt x="7529068" y="0"/>
                  </a:lnTo>
                  <a:lnTo>
                    <a:pt x="7529068" y="6350"/>
                  </a:lnTo>
                  <a:lnTo>
                    <a:pt x="7529068" y="0"/>
                  </a:lnTo>
                  <a:cubicBezTo>
                    <a:pt x="7545198" y="0"/>
                    <a:pt x="7558278" y="12954"/>
                    <a:pt x="7558278" y="28956"/>
                  </a:cubicBezTo>
                  <a:lnTo>
                    <a:pt x="7551928" y="28956"/>
                  </a:lnTo>
                  <a:lnTo>
                    <a:pt x="7558278" y="28956"/>
                  </a:lnTo>
                  <a:lnTo>
                    <a:pt x="7558278" y="1114425"/>
                  </a:lnTo>
                  <a:lnTo>
                    <a:pt x="7551928" y="1114425"/>
                  </a:lnTo>
                  <a:lnTo>
                    <a:pt x="7558278" y="1114425"/>
                  </a:lnTo>
                  <a:cubicBezTo>
                    <a:pt x="7558278" y="1130554"/>
                    <a:pt x="7545198" y="1143381"/>
                    <a:pt x="7529068" y="1143381"/>
                  </a:cubicBezTo>
                  <a:lnTo>
                    <a:pt x="7529068" y="1137031"/>
                  </a:lnTo>
                  <a:lnTo>
                    <a:pt x="7529068" y="1143381"/>
                  </a:lnTo>
                  <a:lnTo>
                    <a:pt x="29210" y="1143381"/>
                  </a:lnTo>
                  <a:lnTo>
                    <a:pt x="29210" y="1137031"/>
                  </a:lnTo>
                  <a:lnTo>
                    <a:pt x="29210" y="1143381"/>
                  </a:lnTo>
                  <a:cubicBezTo>
                    <a:pt x="13081" y="1143381"/>
                    <a:pt x="0" y="1130427"/>
                    <a:pt x="0" y="1114425"/>
                  </a:cubicBezTo>
                  <a:lnTo>
                    <a:pt x="0" y="28956"/>
                  </a:lnTo>
                  <a:lnTo>
                    <a:pt x="6350" y="28956"/>
                  </a:lnTo>
                  <a:lnTo>
                    <a:pt x="0" y="28956"/>
                  </a:lnTo>
                  <a:moveTo>
                    <a:pt x="12700" y="28956"/>
                  </a:moveTo>
                  <a:lnTo>
                    <a:pt x="12700" y="1114425"/>
                  </a:lnTo>
                  <a:lnTo>
                    <a:pt x="6350" y="1114425"/>
                  </a:lnTo>
                  <a:lnTo>
                    <a:pt x="12700" y="1114425"/>
                  </a:lnTo>
                  <a:cubicBezTo>
                    <a:pt x="12700" y="1123315"/>
                    <a:pt x="20066" y="1130681"/>
                    <a:pt x="29210" y="1130681"/>
                  </a:cubicBezTo>
                  <a:lnTo>
                    <a:pt x="7529068" y="1130681"/>
                  </a:lnTo>
                  <a:cubicBezTo>
                    <a:pt x="7538212" y="1130681"/>
                    <a:pt x="7545578" y="1123315"/>
                    <a:pt x="7545578" y="1114425"/>
                  </a:cubicBezTo>
                  <a:lnTo>
                    <a:pt x="7545578" y="28956"/>
                  </a:lnTo>
                  <a:cubicBezTo>
                    <a:pt x="7545578" y="20066"/>
                    <a:pt x="7538212" y="12700"/>
                    <a:pt x="7529068" y="12700"/>
                  </a:cubicBezTo>
                  <a:lnTo>
                    <a:pt x="29210" y="12700"/>
                  </a:lnTo>
                  <a:lnTo>
                    <a:pt x="29210" y="6350"/>
                  </a:lnTo>
                  <a:lnTo>
                    <a:pt x="29210" y="12700"/>
                  </a:lnTo>
                  <a:cubicBezTo>
                    <a:pt x="20066" y="12700"/>
                    <a:pt x="12700" y="20066"/>
                    <a:pt x="12700" y="28956"/>
                  </a:cubicBezTo>
                  <a:close/>
                </a:path>
              </a:pathLst>
            </a:custGeom>
            <a:solidFill>
              <a:srgbClr val="D6D3CC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19420" y="7725966"/>
            <a:ext cx="5640143" cy="339776"/>
            <a:chOff x="0" y="0"/>
            <a:chExt cx="7520191" cy="453034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7520178" cy="452882"/>
            </a:xfrm>
            <a:custGeom>
              <a:avLst/>
              <a:gdLst/>
              <a:ahLst/>
              <a:cxnLst/>
              <a:rect l="l" t="t" r="r" b="b"/>
              <a:pathLst>
                <a:path w="7520178" h="452882">
                  <a:moveTo>
                    <a:pt x="0" y="7366"/>
                  </a:moveTo>
                  <a:cubicBezTo>
                    <a:pt x="0" y="3302"/>
                    <a:pt x="3302" y="0"/>
                    <a:pt x="7366" y="0"/>
                  </a:cubicBezTo>
                  <a:lnTo>
                    <a:pt x="7512812" y="0"/>
                  </a:lnTo>
                  <a:cubicBezTo>
                    <a:pt x="7516876" y="0"/>
                    <a:pt x="7520178" y="3302"/>
                    <a:pt x="7520178" y="7366"/>
                  </a:cubicBezTo>
                  <a:lnTo>
                    <a:pt x="7520178" y="445516"/>
                  </a:lnTo>
                  <a:cubicBezTo>
                    <a:pt x="7520178" y="449580"/>
                    <a:pt x="7516876" y="452882"/>
                    <a:pt x="7512812" y="452882"/>
                  </a:cubicBezTo>
                  <a:lnTo>
                    <a:pt x="7366" y="452882"/>
                  </a:lnTo>
                  <a:cubicBezTo>
                    <a:pt x="3302" y="452882"/>
                    <a:pt x="0" y="449580"/>
                    <a:pt x="0" y="445516"/>
                  </a:cubicBezTo>
                  <a:close/>
                </a:path>
              </a:pathLst>
            </a:custGeom>
            <a:solidFill>
              <a:srgbClr val="F0EDE6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3354591" y="7799184"/>
            <a:ext cx="169812" cy="202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lang="en-US" sz="1312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4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32682" y="8091935"/>
            <a:ext cx="1415806" cy="195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74"/>
              </a:lnSpc>
            </a:pPr>
            <a:r>
              <a:rPr lang="en-US" sz="1062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No Scaling Needed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32682" y="8324402"/>
            <a:ext cx="5413619" cy="117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7"/>
              </a:lnSpc>
            </a:pPr>
            <a:r>
              <a:rPr lang="en-US" sz="875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It uses simple rule splits, so the data does not need extra adjustment.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6309570" y="7711678"/>
            <a:ext cx="5668718" cy="857545"/>
            <a:chOff x="0" y="0"/>
            <a:chExt cx="7558291" cy="1143394"/>
          </a:xfrm>
        </p:grpSpPr>
        <p:sp>
          <p:nvSpPr>
            <p:cNvPr id="45" name="Freeform 45"/>
            <p:cNvSpPr/>
            <p:nvPr/>
          </p:nvSpPr>
          <p:spPr>
            <a:xfrm>
              <a:off x="6350" y="6350"/>
              <a:ext cx="7545578" cy="1130681"/>
            </a:xfrm>
            <a:custGeom>
              <a:avLst/>
              <a:gdLst/>
              <a:ahLst/>
              <a:cxnLst/>
              <a:rect l="l" t="t" r="r" b="b"/>
              <a:pathLst>
                <a:path w="7545578" h="1130681">
                  <a:moveTo>
                    <a:pt x="0" y="22606"/>
                  </a:moveTo>
                  <a:cubicBezTo>
                    <a:pt x="0" y="10160"/>
                    <a:pt x="10287" y="0"/>
                    <a:pt x="22860" y="0"/>
                  </a:cubicBezTo>
                  <a:lnTo>
                    <a:pt x="7522718" y="0"/>
                  </a:lnTo>
                  <a:cubicBezTo>
                    <a:pt x="7535291" y="0"/>
                    <a:pt x="7545578" y="10160"/>
                    <a:pt x="7545578" y="22606"/>
                  </a:cubicBezTo>
                  <a:lnTo>
                    <a:pt x="7545578" y="1108075"/>
                  </a:lnTo>
                  <a:cubicBezTo>
                    <a:pt x="7545578" y="1120648"/>
                    <a:pt x="7535291" y="1130681"/>
                    <a:pt x="7522718" y="1130681"/>
                  </a:cubicBezTo>
                  <a:lnTo>
                    <a:pt x="22860" y="1130681"/>
                  </a:lnTo>
                  <a:cubicBezTo>
                    <a:pt x="10287" y="1130681"/>
                    <a:pt x="0" y="1120521"/>
                    <a:pt x="0" y="1108075"/>
                  </a:cubicBezTo>
                  <a:close/>
                </a:path>
              </a:pathLst>
            </a:custGeom>
            <a:solidFill>
              <a:srgbClr val="FCFBF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Freeform 46"/>
            <p:cNvSpPr/>
            <p:nvPr/>
          </p:nvSpPr>
          <p:spPr>
            <a:xfrm>
              <a:off x="0" y="0"/>
              <a:ext cx="7558278" cy="1143381"/>
            </a:xfrm>
            <a:custGeom>
              <a:avLst/>
              <a:gdLst/>
              <a:ahLst/>
              <a:cxnLst/>
              <a:rect l="l" t="t" r="r" b="b"/>
              <a:pathLst>
                <a:path w="7558278" h="1143381">
                  <a:moveTo>
                    <a:pt x="0" y="28956"/>
                  </a:moveTo>
                  <a:cubicBezTo>
                    <a:pt x="0" y="12954"/>
                    <a:pt x="13081" y="0"/>
                    <a:pt x="29210" y="0"/>
                  </a:cubicBezTo>
                  <a:lnTo>
                    <a:pt x="7529068" y="0"/>
                  </a:lnTo>
                  <a:lnTo>
                    <a:pt x="7529068" y="6350"/>
                  </a:lnTo>
                  <a:lnTo>
                    <a:pt x="7529068" y="0"/>
                  </a:lnTo>
                  <a:cubicBezTo>
                    <a:pt x="7545198" y="0"/>
                    <a:pt x="7558278" y="12954"/>
                    <a:pt x="7558278" y="28956"/>
                  </a:cubicBezTo>
                  <a:lnTo>
                    <a:pt x="7551928" y="28956"/>
                  </a:lnTo>
                  <a:lnTo>
                    <a:pt x="7558278" y="28956"/>
                  </a:lnTo>
                  <a:lnTo>
                    <a:pt x="7558278" y="1114425"/>
                  </a:lnTo>
                  <a:lnTo>
                    <a:pt x="7551928" y="1114425"/>
                  </a:lnTo>
                  <a:lnTo>
                    <a:pt x="7558278" y="1114425"/>
                  </a:lnTo>
                  <a:cubicBezTo>
                    <a:pt x="7558278" y="1130554"/>
                    <a:pt x="7545198" y="1143381"/>
                    <a:pt x="7529068" y="1143381"/>
                  </a:cubicBezTo>
                  <a:lnTo>
                    <a:pt x="7529068" y="1137031"/>
                  </a:lnTo>
                  <a:lnTo>
                    <a:pt x="7529068" y="1143381"/>
                  </a:lnTo>
                  <a:lnTo>
                    <a:pt x="29210" y="1143381"/>
                  </a:lnTo>
                  <a:lnTo>
                    <a:pt x="29210" y="1137031"/>
                  </a:lnTo>
                  <a:lnTo>
                    <a:pt x="29210" y="1143381"/>
                  </a:lnTo>
                  <a:cubicBezTo>
                    <a:pt x="13081" y="1143381"/>
                    <a:pt x="0" y="1130427"/>
                    <a:pt x="0" y="1114425"/>
                  </a:cubicBezTo>
                  <a:lnTo>
                    <a:pt x="0" y="28956"/>
                  </a:lnTo>
                  <a:lnTo>
                    <a:pt x="6350" y="28956"/>
                  </a:lnTo>
                  <a:lnTo>
                    <a:pt x="0" y="28956"/>
                  </a:lnTo>
                  <a:moveTo>
                    <a:pt x="12700" y="28956"/>
                  </a:moveTo>
                  <a:lnTo>
                    <a:pt x="12700" y="1114425"/>
                  </a:lnTo>
                  <a:lnTo>
                    <a:pt x="6350" y="1114425"/>
                  </a:lnTo>
                  <a:lnTo>
                    <a:pt x="12700" y="1114425"/>
                  </a:lnTo>
                  <a:cubicBezTo>
                    <a:pt x="12700" y="1123315"/>
                    <a:pt x="20066" y="1130681"/>
                    <a:pt x="29210" y="1130681"/>
                  </a:cubicBezTo>
                  <a:lnTo>
                    <a:pt x="7529068" y="1130681"/>
                  </a:lnTo>
                  <a:cubicBezTo>
                    <a:pt x="7538212" y="1130681"/>
                    <a:pt x="7545578" y="1123315"/>
                    <a:pt x="7545578" y="1114425"/>
                  </a:cubicBezTo>
                  <a:lnTo>
                    <a:pt x="7545578" y="28956"/>
                  </a:lnTo>
                  <a:cubicBezTo>
                    <a:pt x="7545578" y="20066"/>
                    <a:pt x="7538212" y="12700"/>
                    <a:pt x="7529068" y="12700"/>
                  </a:cubicBezTo>
                  <a:lnTo>
                    <a:pt x="29210" y="12700"/>
                  </a:lnTo>
                  <a:lnTo>
                    <a:pt x="29210" y="6350"/>
                  </a:lnTo>
                  <a:lnTo>
                    <a:pt x="29210" y="12700"/>
                  </a:lnTo>
                  <a:cubicBezTo>
                    <a:pt x="20066" y="12700"/>
                    <a:pt x="12700" y="20066"/>
                    <a:pt x="12700" y="28956"/>
                  </a:cubicBezTo>
                  <a:close/>
                </a:path>
              </a:pathLst>
            </a:custGeom>
            <a:solidFill>
              <a:srgbClr val="D6D3CC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6323857" y="7725966"/>
            <a:ext cx="5640143" cy="339776"/>
            <a:chOff x="0" y="0"/>
            <a:chExt cx="7520191" cy="453034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7520178" cy="452882"/>
            </a:xfrm>
            <a:custGeom>
              <a:avLst/>
              <a:gdLst/>
              <a:ahLst/>
              <a:cxnLst/>
              <a:rect l="l" t="t" r="r" b="b"/>
              <a:pathLst>
                <a:path w="7520178" h="452882">
                  <a:moveTo>
                    <a:pt x="0" y="7366"/>
                  </a:moveTo>
                  <a:cubicBezTo>
                    <a:pt x="0" y="3302"/>
                    <a:pt x="3302" y="0"/>
                    <a:pt x="7366" y="0"/>
                  </a:cubicBezTo>
                  <a:lnTo>
                    <a:pt x="7512812" y="0"/>
                  </a:lnTo>
                  <a:cubicBezTo>
                    <a:pt x="7516876" y="0"/>
                    <a:pt x="7520178" y="3302"/>
                    <a:pt x="7520178" y="7366"/>
                  </a:cubicBezTo>
                  <a:lnTo>
                    <a:pt x="7520178" y="445516"/>
                  </a:lnTo>
                  <a:cubicBezTo>
                    <a:pt x="7520178" y="449580"/>
                    <a:pt x="7516876" y="452882"/>
                    <a:pt x="7512812" y="452882"/>
                  </a:cubicBezTo>
                  <a:lnTo>
                    <a:pt x="7366" y="452882"/>
                  </a:lnTo>
                  <a:cubicBezTo>
                    <a:pt x="3302" y="452882"/>
                    <a:pt x="0" y="449580"/>
                    <a:pt x="0" y="445516"/>
                  </a:cubicBezTo>
                  <a:close/>
                </a:path>
              </a:pathLst>
            </a:custGeom>
            <a:solidFill>
              <a:srgbClr val="F0EDE6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9059018" y="7799184"/>
            <a:ext cx="169812" cy="202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lang="en-US" sz="1312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5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437109" y="8091935"/>
            <a:ext cx="1485900" cy="195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74"/>
              </a:lnSpc>
            </a:pPr>
            <a:r>
              <a:rPr lang="en-US" sz="1062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Handles Complex Rules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437109" y="8324402"/>
            <a:ext cx="5413619" cy="117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7"/>
              </a:lnSpc>
            </a:pPr>
            <a:r>
              <a:rPr lang="en-US" sz="875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It can follow several if-then steps, like real student-to-career choices.</a:t>
            </a:r>
          </a:p>
        </p:txBody>
      </p:sp>
      <p:grpSp>
        <p:nvGrpSpPr>
          <p:cNvPr id="52" name="Group 52"/>
          <p:cNvGrpSpPr/>
          <p:nvPr/>
        </p:nvGrpSpPr>
        <p:grpSpPr>
          <a:xfrm>
            <a:off x="12013997" y="7711678"/>
            <a:ext cx="5668718" cy="857545"/>
            <a:chOff x="0" y="0"/>
            <a:chExt cx="7558291" cy="1143394"/>
          </a:xfrm>
        </p:grpSpPr>
        <p:sp>
          <p:nvSpPr>
            <p:cNvPr id="53" name="Freeform 53"/>
            <p:cNvSpPr/>
            <p:nvPr/>
          </p:nvSpPr>
          <p:spPr>
            <a:xfrm>
              <a:off x="6350" y="6350"/>
              <a:ext cx="7545578" cy="1130681"/>
            </a:xfrm>
            <a:custGeom>
              <a:avLst/>
              <a:gdLst/>
              <a:ahLst/>
              <a:cxnLst/>
              <a:rect l="l" t="t" r="r" b="b"/>
              <a:pathLst>
                <a:path w="7545578" h="1130681">
                  <a:moveTo>
                    <a:pt x="0" y="22606"/>
                  </a:moveTo>
                  <a:cubicBezTo>
                    <a:pt x="0" y="10160"/>
                    <a:pt x="10287" y="0"/>
                    <a:pt x="22860" y="0"/>
                  </a:cubicBezTo>
                  <a:lnTo>
                    <a:pt x="7522718" y="0"/>
                  </a:lnTo>
                  <a:cubicBezTo>
                    <a:pt x="7535291" y="0"/>
                    <a:pt x="7545578" y="10160"/>
                    <a:pt x="7545578" y="22606"/>
                  </a:cubicBezTo>
                  <a:lnTo>
                    <a:pt x="7545578" y="1108075"/>
                  </a:lnTo>
                  <a:cubicBezTo>
                    <a:pt x="7545578" y="1120648"/>
                    <a:pt x="7535291" y="1130681"/>
                    <a:pt x="7522718" y="1130681"/>
                  </a:cubicBezTo>
                  <a:lnTo>
                    <a:pt x="22860" y="1130681"/>
                  </a:lnTo>
                  <a:cubicBezTo>
                    <a:pt x="10287" y="1130681"/>
                    <a:pt x="0" y="1120521"/>
                    <a:pt x="0" y="1108075"/>
                  </a:cubicBezTo>
                  <a:close/>
                </a:path>
              </a:pathLst>
            </a:custGeom>
            <a:solidFill>
              <a:srgbClr val="FCFBF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4" name="Freeform 54"/>
            <p:cNvSpPr/>
            <p:nvPr/>
          </p:nvSpPr>
          <p:spPr>
            <a:xfrm>
              <a:off x="0" y="0"/>
              <a:ext cx="7558278" cy="1143381"/>
            </a:xfrm>
            <a:custGeom>
              <a:avLst/>
              <a:gdLst/>
              <a:ahLst/>
              <a:cxnLst/>
              <a:rect l="l" t="t" r="r" b="b"/>
              <a:pathLst>
                <a:path w="7558278" h="1143381">
                  <a:moveTo>
                    <a:pt x="0" y="28956"/>
                  </a:moveTo>
                  <a:cubicBezTo>
                    <a:pt x="0" y="12954"/>
                    <a:pt x="13081" y="0"/>
                    <a:pt x="29210" y="0"/>
                  </a:cubicBezTo>
                  <a:lnTo>
                    <a:pt x="7529068" y="0"/>
                  </a:lnTo>
                  <a:lnTo>
                    <a:pt x="7529068" y="6350"/>
                  </a:lnTo>
                  <a:lnTo>
                    <a:pt x="7529068" y="0"/>
                  </a:lnTo>
                  <a:cubicBezTo>
                    <a:pt x="7545198" y="0"/>
                    <a:pt x="7558278" y="12954"/>
                    <a:pt x="7558278" y="28956"/>
                  </a:cubicBezTo>
                  <a:lnTo>
                    <a:pt x="7551928" y="28956"/>
                  </a:lnTo>
                  <a:lnTo>
                    <a:pt x="7558278" y="28956"/>
                  </a:lnTo>
                  <a:lnTo>
                    <a:pt x="7558278" y="1114425"/>
                  </a:lnTo>
                  <a:lnTo>
                    <a:pt x="7551928" y="1114425"/>
                  </a:lnTo>
                  <a:lnTo>
                    <a:pt x="7558278" y="1114425"/>
                  </a:lnTo>
                  <a:cubicBezTo>
                    <a:pt x="7558278" y="1130554"/>
                    <a:pt x="7545198" y="1143381"/>
                    <a:pt x="7529068" y="1143381"/>
                  </a:cubicBezTo>
                  <a:lnTo>
                    <a:pt x="7529068" y="1137031"/>
                  </a:lnTo>
                  <a:lnTo>
                    <a:pt x="7529068" y="1143381"/>
                  </a:lnTo>
                  <a:lnTo>
                    <a:pt x="29210" y="1143381"/>
                  </a:lnTo>
                  <a:lnTo>
                    <a:pt x="29210" y="1137031"/>
                  </a:lnTo>
                  <a:lnTo>
                    <a:pt x="29210" y="1143381"/>
                  </a:lnTo>
                  <a:cubicBezTo>
                    <a:pt x="13081" y="1143381"/>
                    <a:pt x="0" y="1130427"/>
                    <a:pt x="0" y="1114425"/>
                  </a:cubicBezTo>
                  <a:lnTo>
                    <a:pt x="0" y="28956"/>
                  </a:lnTo>
                  <a:lnTo>
                    <a:pt x="6350" y="28956"/>
                  </a:lnTo>
                  <a:lnTo>
                    <a:pt x="0" y="28956"/>
                  </a:lnTo>
                  <a:moveTo>
                    <a:pt x="12700" y="28956"/>
                  </a:moveTo>
                  <a:lnTo>
                    <a:pt x="12700" y="1114425"/>
                  </a:lnTo>
                  <a:lnTo>
                    <a:pt x="6350" y="1114425"/>
                  </a:lnTo>
                  <a:lnTo>
                    <a:pt x="12700" y="1114425"/>
                  </a:lnTo>
                  <a:cubicBezTo>
                    <a:pt x="12700" y="1123315"/>
                    <a:pt x="20066" y="1130681"/>
                    <a:pt x="29210" y="1130681"/>
                  </a:cubicBezTo>
                  <a:lnTo>
                    <a:pt x="7529068" y="1130681"/>
                  </a:lnTo>
                  <a:cubicBezTo>
                    <a:pt x="7538212" y="1130681"/>
                    <a:pt x="7545578" y="1123315"/>
                    <a:pt x="7545578" y="1114425"/>
                  </a:cubicBezTo>
                  <a:lnTo>
                    <a:pt x="7545578" y="28956"/>
                  </a:lnTo>
                  <a:cubicBezTo>
                    <a:pt x="7545578" y="20066"/>
                    <a:pt x="7538212" y="12700"/>
                    <a:pt x="7529068" y="12700"/>
                  </a:cubicBezTo>
                  <a:lnTo>
                    <a:pt x="29210" y="12700"/>
                  </a:lnTo>
                  <a:lnTo>
                    <a:pt x="29210" y="6350"/>
                  </a:lnTo>
                  <a:lnTo>
                    <a:pt x="29210" y="12700"/>
                  </a:lnTo>
                  <a:cubicBezTo>
                    <a:pt x="20066" y="12700"/>
                    <a:pt x="12700" y="20066"/>
                    <a:pt x="12700" y="28956"/>
                  </a:cubicBezTo>
                  <a:close/>
                </a:path>
              </a:pathLst>
            </a:custGeom>
            <a:solidFill>
              <a:srgbClr val="D6D3CC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2028284" y="7725966"/>
            <a:ext cx="5640143" cy="339776"/>
            <a:chOff x="0" y="0"/>
            <a:chExt cx="7520191" cy="453034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7520178" cy="452882"/>
            </a:xfrm>
            <a:custGeom>
              <a:avLst/>
              <a:gdLst/>
              <a:ahLst/>
              <a:cxnLst/>
              <a:rect l="l" t="t" r="r" b="b"/>
              <a:pathLst>
                <a:path w="7520178" h="452882">
                  <a:moveTo>
                    <a:pt x="0" y="7366"/>
                  </a:moveTo>
                  <a:cubicBezTo>
                    <a:pt x="0" y="3302"/>
                    <a:pt x="3302" y="0"/>
                    <a:pt x="7366" y="0"/>
                  </a:cubicBezTo>
                  <a:lnTo>
                    <a:pt x="7512812" y="0"/>
                  </a:lnTo>
                  <a:cubicBezTo>
                    <a:pt x="7516876" y="0"/>
                    <a:pt x="7520178" y="3302"/>
                    <a:pt x="7520178" y="7366"/>
                  </a:cubicBezTo>
                  <a:lnTo>
                    <a:pt x="7520178" y="445516"/>
                  </a:lnTo>
                  <a:cubicBezTo>
                    <a:pt x="7520178" y="449580"/>
                    <a:pt x="7516876" y="452882"/>
                    <a:pt x="7512812" y="452882"/>
                  </a:cubicBezTo>
                  <a:lnTo>
                    <a:pt x="7366" y="452882"/>
                  </a:lnTo>
                  <a:cubicBezTo>
                    <a:pt x="3302" y="452882"/>
                    <a:pt x="0" y="449580"/>
                    <a:pt x="0" y="445516"/>
                  </a:cubicBezTo>
                  <a:close/>
                </a:path>
              </a:pathLst>
            </a:custGeom>
            <a:solidFill>
              <a:srgbClr val="F0EDE6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14763455" y="7799184"/>
            <a:ext cx="169812" cy="202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lang="en-US" sz="1312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6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2141546" y="8091935"/>
            <a:ext cx="1415806" cy="195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74"/>
              </a:lnSpc>
            </a:pPr>
            <a:r>
              <a:rPr lang="en-US" sz="1062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Fast Predictions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2141546" y="8324402"/>
            <a:ext cx="5413619" cy="117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7"/>
              </a:lnSpc>
            </a:pPr>
            <a:r>
              <a:rPr lang="en-US" sz="875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After training, it quickly moves inputs through the tree for instant results.</a:t>
            </a:r>
          </a:p>
        </p:txBody>
      </p:sp>
      <p:grpSp>
        <p:nvGrpSpPr>
          <p:cNvPr id="60" name="Group 60"/>
          <p:cNvGrpSpPr/>
          <p:nvPr/>
        </p:nvGrpSpPr>
        <p:grpSpPr>
          <a:xfrm>
            <a:off x="605133" y="8604942"/>
            <a:ext cx="5668718" cy="857545"/>
            <a:chOff x="0" y="0"/>
            <a:chExt cx="7558291" cy="1143394"/>
          </a:xfrm>
        </p:grpSpPr>
        <p:sp>
          <p:nvSpPr>
            <p:cNvPr id="61" name="Freeform 61"/>
            <p:cNvSpPr/>
            <p:nvPr/>
          </p:nvSpPr>
          <p:spPr>
            <a:xfrm>
              <a:off x="6350" y="6350"/>
              <a:ext cx="7545578" cy="1130681"/>
            </a:xfrm>
            <a:custGeom>
              <a:avLst/>
              <a:gdLst/>
              <a:ahLst/>
              <a:cxnLst/>
              <a:rect l="l" t="t" r="r" b="b"/>
              <a:pathLst>
                <a:path w="7545578" h="1130681">
                  <a:moveTo>
                    <a:pt x="0" y="22606"/>
                  </a:moveTo>
                  <a:cubicBezTo>
                    <a:pt x="0" y="10160"/>
                    <a:pt x="10287" y="0"/>
                    <a:pt x="22860" y="0"/>
                  </a:cubicBezTo>
                  <a:lnTo>
                    <a:pt x="7522718" y="0"/>
                  </a:lnTo>
                  <a:cubicBezTo>
                    <a:pt x="7535291" y="0"/>
                    <a:pt x="7545578" y="10160"/>
                    <a:pt x="7545578" y="22606"/>
                  </a:cubicBezTo>
                  <a:lnTo>
                    <a:pt x="7545578" y="1108075"/>
                  </a:lnTo>
                  <a:cubicBezTo>
                    <a:pt x="7545578" y="1120648"/>
                    <a:pt x="7535291" y="1130681"/>
                    <a:pt x="7522718" y="1130681"/>
                  </a:cubicBezTo>
                  <a:lnTo>
                    <a:pt x="22860" y="1130681"/>
                  </a:lnTo>
                  <a:cubicBezTo>
                    <a:pt x="10287" y="1130681"/>
                    <a:pt x="0" y="1120521"/>
                    <a:pt x="0" y="1108075"/>
                  </a:cubicBezTo>
                  <a:close/>
                </a:path>
              </a:pathLst>
            </a:custGeom>
            <a:solidFill>
              <a:srgbClr val="FCFBF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2" name="Freeform 62"/>
            <p:cNvSpPr/>
            <p:nvPr/>
          </p:nvSpPr>
          <p:spPr>
            <a:xfrm>
              <a:off x="0" y="0"/>
              <a:ext cx="7558278" cy="1143381"/>
            </a:xfrm>
            <a:custGeom>
              <a:avLst/>
              <a:gdLst/>
              <a:ahLst/>
              <a:cxnLst/>
              <a:rect l="l" t="t" r="r" b="b"/>
              <a:pathLst>
                <a:path w="7558278" h="1143381">
                  <a:moveTo>
                    <a:pt x="0" y="28956"/>
                  </a:moveTo>
                  <a:cubicBezTo>
                    <a:pt x="0" y="12954"/>
                    <a:pt x="13081" y="0"/>
                    <a:pt x="29210" y="0"/>
                  </a:cubicBezTo>
                  <a:lnTo>
                    <a:pt x="7529068" y="0"/>
                  </a:lnTo>
                  <a:lnTo>
                    <a:pt x="7529068" y="6350"/>
                  </a:lnTo>
                  <a:lnTo>
                    <a:pt x="7529068" y="0"/>
                  </a:lnTo>
                  <a:cubicBezTo>
                    <a:pt x="7545198" y="0"/>
                    <a:pt x="7558278" y="12954"/>
                    <a:pt x="7558278" y="28956"/>
                  </a:cubicBezTo>
                  <a:lnTo>
                    <a:pt x="7551928" y="28956"/>
                  </a:lnTo>
                  <a:lnTo>
                    <a:pt x="7558278" y="28956"/>
                  </a:lnTo>
                  <a:lnTo>
                    <a:pt x="7558278" y="1114425"/>
                  </a:lnTo>
                  <a:lnTo>
                    <a:pt x="7551928" y="1114425"/>
                  </a:lnTo>
                  <a:lnTo>
                    <a:pt x="7558278" y="1114425"/>
                  </a:lnTo>
                  <a:cubicBezTo>
                    <a:pt x="7558278" y="1130554"/>
                    <a:pt x="7545198" y="1143381"/>
                    <a:pt x="7529068" y="1143381"/>
                  </a:cubicBezTo>
                  <a:lnTo>
                    <a:pt x="7529068" y="1137031"/>
                  </a:lnTo>
                  <a:lnTo>
                    <a:pt x="7529068" y="1143381"/>
                  </a:lnTo>
                  <a:lnTo>
                    <a:pt x="29210" y="1143381"/>
                  </a:lnTo>
                  <a:lnTo>
                    <a:pt x="29210" y="1137031"/>
                  </a:lnTo>
                  <a:lnTo>
                    <a:pt x="29210" y="1143381"/>
                  </a:lnTo>
                  <a:cubicBezTo>
                    <a:pt x="13081" y="1143381"/>
                    <a:pt x="0" y="1130427"/>
                    <a:pt x="0" y="1114425"/>
                  </a:cubicBezTo>
                  <a:lnTo>
                    <a:pt x="0" y="28956"/>
                  </a:lnTo>
                  <a:lnTo>
                    <a:pt x="6350" y="28956"/>
                  </a:lnTo>
                  <a:lnTo>
                    <a:pt x="0" y="28956"/>
                  </a:lnTo>
                  <a:moveTo>
                    <a:pt x="12700" y="28956"/>
                  </a:moveTo>
                  <a:lnTo>
                    <a:pt x="12700" y="1114425"/>
                  </a:lnTo>
                  <a:lnTo>
                    <a:pt x="6350" y="1114425"/>
                  </a:lnTo>
                  <a:lnTo>
                    <a:pt x="12700" y="1114425"/>
                  </a:lnTo>
                  <a:cubicBezTo>
                    <a:pt x="12700" y="1123315"/>
                    <a:pt x="20066" y="1130681"/>
                    <a:pt x="29210" y="1130681"/>
                  </a:cubicBezTo>
                  <a:lnTo>
                    <a:pt x="7529068" y="1130681"/>
                  </a:lnTo>
                  <a:cubicBezTo>
                    <a:pt x="7538212" y="1130681"/>
                    <a:pt x="7545578" y="1123315"/>
                    <a:pt x="7545578" y="1114425"/>
                  </a:cubicBezTo>
                  <a:lnTo>
                    <a:pt x="7545578" y="28956"/>
                  </a:lnTo>
                  <a:cubicBezTo>
                    <a:pt x="7545578" y="20066"/>
                    <a:pt x="7538212" y="12700"/>
                    <a:pt x="7529068" y="12700"/>
                  </a:cubicBezTo>
                  <a:lnTo>
                    <a:pt x="29210" y="12700"/>
                  </a:lnTo>
                  <a:lnTo>
                    <a:pt x="29210" y="6350"/>
                  </a:lnTo>
                  <a:lnTo>
                    <a:pt x="29210" y="12700"/>
                  </a:lnTo>
                  <a:cubicBezTo>
                    <a:pt x="20066" y="12700"/>
                    <a:pt x="12700" y="20066"/>
                    <a:pt x="12700" y="28956"/>
                  </a:cubicBezTo>
                  <a:close/>
                </a:path>
              </a:pathLst>
            </a:custGeom>
            <a:solidFill>
              <a:srgbClr val="D6D3CC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619420" y="8619230"/>
            <a:ext cx="5640143" cy="339776"/>
            <a:chOff x="0" y="0"/>
            <a:chExt cx="7520191" cy="453034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7520178" cy="452882"/>
            </a:xfrm>
            <a:custGeom>
              <a:avLst/>
              <a:gdLst/>
              <a:ahLst/>
              <a:cxnLst/>
              <a:rect l="l" t="t" r="r" b="b"/>
              <a:pathLst>
                <a:path w="7520178" h="452882">
                  <a:moveTo>
                    <a:pt x="0" y="7366"/>
                  </a:moveTo>
                  <a:cubicBezTo>
                    <a:pt x="0" y="3302"/>
                    <a:pt x="3302" y="0"/>
                    <a:pt x="7366" y="0"/>
                  </a:cubicBezTo>
                  <a:lnTo>
                    <a:pt x="7512812" y="0"/>
                  </a:lnTo>
                  <a:cubicBezTo>
                    <a:pt x="7516876" y="0"/>
                    <a:pt x="7520178" y="3302"/>
                    <a:pt x="7520178" y="7366"/>
                  </a:cubicBezTo>
                  <a:lnTo>
                    <a:pt x="7520178" y="445516"/>
                  </a:lnTo>
                  <a:cubicBezTo>
                    <a:pt x="7520178" y="449580"/>
                    <a:pt x="7516876" y="452882"/>
                    <a:pt x="7512812" y="452882"/>
                  </a:cubicBezTo>
                  <a:lnTo>
                    <a:pt x="7366" y="452882"/>
                  </a:lnTo>
                  <a:cubicBezTo>
                    <a:pt x="3302" y="452882"/>
                    <a:pt x="0" y="449580"/>
                    <a:pt x="0" y="445516"/>
                  </a:cubicBezTo>
                  <a:close/>
                </a:path>
              </a:pathLst>
            </a:custGeom>
            <a:solidFill>
              <a:srgbClr val="F0EDE6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5" name="TextBox 65"/>
          <p:cNvSpPr txBox="1"/>
          <p:nvPr/>
        </p:nvSpPr>
        <p:spPr>
          <a:xfrm>
            <a:off x="3354591" y="8692458"/>
            <a:ext cx="169812" cy="202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lang="en-US" sz="1312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7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732682" y="8985199"/>
            <a:ext cx="1718072" cy="195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74"/>
              </a:lnSpc>
            </a:pPr>
            <a:r>
              <a:rPr lang="en-US" sz="1062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Easy to Check and Improve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732682" y="9217666"/>
            <a:ext cx="5413619" cy="117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7"/>
              </a:lnSpc>
            </a:pPr>
            <a:r>
              <a:rPr lang="en-US" sz="875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Problem areas are easy to spot, fix, and train again for better results.</a:t>
            </a:r>
          </a:p>
        </p:txBody>
      </p:sp>
      <p:grpSp>
        <p:nvGrpSpPr>
          <p:cNvPr id="68" name="Group 68"/>
          <p:cNvGrpSpPr/>
          <p:nvPr/>
        </p:nvGrpSpPr>
        <p:grpSpPr>
          <a:xfrm>
            <a:off x="609895" y="9568758"/>
            <a:ext cx="56559" cy="56559"/>
            <a:chOff x="0" y="0"/>
            <a:chExt cx="75413" cy="75413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75438" cy="75438"/>
            </a:xfrm>
            <a:custGeom>
              <a:avLst/>
              <a:gdLst/>
              <a:ahLst/>
              <a:cxnLst/>
              <a:rect l="l" t="t" r="r" b="b"/>
              <a:pathLst>
                <a:path w="75438" h="75438">
                  <a:moveTo>
                    <a:pt x="0" y="37719"/>
                  </a:moveTo>
                  <a:cubicBezTo>
                    <a:pt x="0" y="16891"/>
                    <a:pt x="16891" y="0"/>
                    <a:pt x="37719" y="0"/>
                  </a:cubicBezTo>
                  <a:cubicBezTo>
                    <a:pt x="58547" y="0"/>
                    <a:pt x="75438" y="16891"/>
                    <a:pt x="75438" y="37719"/>
                  </a:cubicBezTo>
                  <a:cubicBezTo>
                    <a:pt x="75438" y="58547"/>
                    <a:pt x="58547" y="75438"/>
                    <a:pt x="37719" y="75438"/>
                  </a:cubicBezTo>
                  <a:cubicBezTo>
                    <a:pt x="16891" y="75438"/>
                    <a:pt x="0" y="58547"/>
                    <a:pt x="0" y="37719"/>
                  </a:cubicBezTo>
                  <a:close/>
                </a:path>
              </a:pathLst>
            </a:custGeom>
            <a:solidFill>
              <a:srgbClr val="1B5F39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0" name="TextBox 70"/>
          <p:cNvSpPr txBox="1"/>
          <p:nvPr/>
        </p:nvSpPr>
        <p:spPr>
          <a:xfrm>
            <a:off x="711698" y="9489577"/>
            <a:ext cx="1676105" cy="195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74"/>
              </a:lnSpc>
            </a:pPr>
            <a:r>
              <a:rPr lang="en-US" sz="1062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Fast, Rule-Based Decisions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711698" y="9722053"/>
            <a:ext cx="5549798" cy="117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7"/>
              </a:lnSpc>
            </a:pPr>
            <a:r>
              <a:rPr lang="en-US" sz="875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Clear feature splits give quick and steady recommendations with little confusion.</a:t>
            </a:r>
          </a:p>
        </p:txBody>
      </p:sp>
      <p:grpSp>
        <p:nvGrpSpPr>
          <p:cNvPr id="72" name="Group 72"/>
          <p:cNvGrpSpPr/>
          <p:nvPr/>
        </p:nvGrpSpPr>
        <p:grpSpPr>
          <a:xfrm>
            <a:off x="6318047" y="9568758"/>
            <a:ext cx="56559" cy="56559"/>
            <a:chOff x="0" y="0"/>
            <a:chExt cx="75413" cy="75413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75438" cy="75438"/>
            </a:xfrm>
            <a:custGeom>
              <a:avLst/>
              <a:gdLst/>
              <a:ahLst/>
              <a:cxnLst/>
              <a:rect l="l" t="t" r="r" b="b"/>
              <a:pathLst>
                <a:path w="75438" h="75438">
                  <a:moveTo>
                    <a:pt x="0" y="37719"/>
                  </a:moveTo>
                  <a:cubicBezTo>
                    <a:pt x="0" y="16891"/>
                    <a:pt x="16891" y="0"/>
                    <a:pt x="37719" y="0"/>
                  </a:cubicBezTo>
                  <a:cubicBezTo>
                    <a:pt x="58547" y="0"/>
                    <a:pt x="75438" y="16891"/>
                    <a:pt x="75438" y="37719"/>
                  </a:cubicBezTo>
                  <a:cubicBezTo>
                    <a:pt x="75438" y="58547"/>
                    <a:pt x="58547" y="75438"/>
                    <a:pt x="37719" y="75438"/>
                  </a:cubicBezTo>
                  <a:cubicBezTo>
                    <a:pt x="16891" y="75438"/>
                    <a:pt x="0" y="58547"/>
                    <a:pt x="0" y="37719"/>
                  </a:cubicBezTo>
                  <a:close/>
                </a:path>
              </a:pathLst>
            </a:custGeom>
            <a:solidFill>
              <a:srgbClr val="1B5F39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4" name="TextBox 74"/>
          <p:cNvSpPr txBox="1"/>
          <p:nvPr/>
        </p:nvSpPr>
        <p:spPr>
          <a:xfrm>
            <a:off x="6419850" y="9489577"/>
            <a:ext cx="1674609" cy="195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74"/>
              </a:lnSpc>
            </a:pPr>
            <a:r>
              <a:rPr lang="en-US" sz="1062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Handles Mixed Data Easily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6419850" y="9722053"/>
            <a:ext cx="5549951" cy="117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7"/>
              </a:lnSpc>
            </a:pPr>
            <a:r>
              <a:rPr lang="en-US" sz="875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It works well with both number data and category data.</a:t>
            </a:r>
          </a:p>
        </p:txBody>
      </p:sp>
      <p:grpSp>
        <p:nvGrpSpPr>
          <p:cNvPr id="76" name="Group 76"/>
          <p:cNvGrpSpPr/>
          <p:nvPr/>
        </p:nvGrpSpPr>
        <p:grpSpPr>
          <a:xfrm>
            <a:off x="12026351" y="9568758"/>
            <a:ext cx="56559" cy="56559"/>
            <a:chOff x="0" y="0"/>
            <a:chExt cx="75413" cy="75413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75438" cy="75438"/>
            </a:xfrm>
            <a:custGeom>
              <a:avLst/>
              <a:gdLst/>
              <a:ahLst/>
              <a:cxnLst/>
              <a:rect l="l" t="t" r="r" b="b"/>
              <a:pathLst>
                <a:path w="75438" h="75438">
                  <a:moveTo>
                    <a:pt x="0" y="37719"/>
                  </a:moveTo>
                  <a:cubicBezTo>
                    <a:pt x="0" y="16891"/>
                    <a:pt x="16891" y="0"/>
                    <a:pt x="37719" y="0"/>
                  </a:cubicBezTo>
                  <a:cubicBezTo>
                    <a:pt x="58547" y="0"/>
                    <a:pt x="75438" y="16891"/>
                    <a:pt x="75438" y="37719"/>
                  </a:cubicBezTo>
                  <a:cubicBezTo>
                    <a:pt x="75438" y="58547"/>
                    <a:pt x="58547" y="75438"/>
                    <a:pt x="37719" y="75438"/>
                  </a:cubicBezTo>
                  <a:cubicBezTo>
                    <a:pt x="16891" y="75438"/>
                    <a:pt x="0" y="58547"/>
                    <a:pt x="0" y="37719"/>
                  </a:cubicBezTo>
                  <a:close/>
                </a:path>
              </a:pathLst>
            </a:custGeom>
            <a:solidFill>
              <a:srgbClr val="1B5F39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8" name="TextBox 78"/>
          <p:cNvSpPr txBox="1"/>
          <p:nvPr/>
        </p:nvSpPr>
        <p:spPr>
          <a:xfrm>
            <a:off x="12128154" y="9489577"/>
            <a:ext cx="1415806" cy="195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74"/>
              </a:lnSpc>
            </a:pPr>
            <a:r>
              <a:rPr lang="en-US" sz="1062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Built for Trust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12128154" y="9722053"/>
            <a:ext cx="5549798" cy="117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7"/>
              </a:lnSpc>
            </a:pPr>
            <a:r>
              <a:rPr lang="en-US" sz="875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Its clear path from input to result makes every recommendation easy to explain.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1F2DE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CFBF8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2238" y="852488"/>
            <a:ext cx="6379521" cy="835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49"/>
              </a:lnSpc>
            </a:pPr>
            <a:r>
              <a:rPr lang="en-US" sz="4999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System Flow Diagram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807369" y="2147297"/>
            <a:ext cx="14673110" cy="6602759"/>
            <a:chOff x="0" y="0"/>
            <a:chExt cx="19564147" cy="8803678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19564096" cy="8803640"/>
            </a:xfrm>
            <a:custGeom>
              <a:avLst/>
              <a:gdLst/>
              <a:ahLst/>
              <a:cxnLst/>
              <a:rect l="l" t="t" r="r" b="b"/>
              <a:pathLst>
                <a:path w="19564096" h="8803640">
                  <a:moveTo>
                    <a:pt x="0" y="0"/>
                  </a:moveTo>
                  <a:lnTo>
                    <a:pt x="19564096" y="0"/>
                  </a:lnTo>
                  <a:lnTo>
                    <a:pt x="19564096" y="8803640"/>
                  </a:lnTo>
                  <a:lnTo>
                    <a:pt x="0" y="8803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" b="-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017702" y="2418350"/>
            <a:ext cx="2567740" cy="415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2"/>
              </a:lnSpc>
            </a:pPr>
            <a:r>
              <a:rPr lang="en-US" sz="2437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Start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017702" y="2947064"/>
            <a:ext cx="2567740" cy="603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2"/>
              </a:lnSpc>
            </a:pPr>
            <a:r>
              <a:rPr lang="en-US" sz="1937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Begin the input process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557229" y="7370416"/>
            <a:ext cx="2581846" cy="415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2"/>
              </a:lnSpc>
            </a:pPr>
            <a:r>
              <a:rPr lang="en-US" sz="2437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Data Collection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557229" y="7899140"/>
            <a:ext cx="2581846" cy="603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2"/>
              </a:lnSpc>
            </a:pPr>
            <a:r>
              <a:rPr lang="en-US" sz="1937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Collect name, age, marks, interests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068533" y="2368963"/>
            <a:ext cx="2567740" cy="415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2"/>
              </a:lnSpc>
            </a:pPr>
            <a:r>
              <a:rPr lang="en-US" sz="2437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Preprocessing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068533" y="2897686"/>
            <a:ext cx="2567740" cy="603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2"/>
              </a:lnSpc>
            </a:pPr>
            <a:r>
              <a:rPr lang="en-US" sz="1937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Change labels and match skills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608060" y="7370416"/>
            <a:ext cx="2567740" cy="415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2"/>
              </a:lnSpc>
            </a:pPr>
            <a:r>
              <a:rPr lang="en-US" sz="2437">
                <a:solidFill>
                  <a:srgbClr val="2C2821"/>
                </a:solidFill>
                <a:latin typeface="Alice"/>
                <a:ea typeface="Alice"/>
                <a:cs typeface="Alice"/>
                <a:sym typeface="Alice"/>
              </a:rPr>
              <a:t>Classification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608060" y="7899140"/>
            <a:ext cx="2567740" cy="603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2"/>
              </a:lnSpc>
            </a:pPr>
            <a:r>
              <a:rPr lang="en-US" sz="1937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The decision tree picks a career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92238" y="8951271"/>
            <a:ext cx="16303523" cy="444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The system takes student details and turns them into a career suggestion step by step.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1F2DE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CFBF8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2238" y="798757"/>
            <a:ext cx="6412554" cy="791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74"/>
              </a:lnSpc>
            </a:pPr>
            <a:r>
              <a:rPr lang="en-US" sz="4687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Training Data Structure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1951882"/>
            <a:ext cx="16303523" cy="404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A carefully chosen dataset of 14 student profiles with different backgrounds and matching career suggestions.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87476" y="2581723"/>
            <a:ext cx="16313048" cy="6873183"/>
            <a:chOff x="0" y="0"/>
            <a:chExt cx="21750731" cy="916424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750782" cy="9164320"/>
            </a:xfrm>
            <a:custGeom>
              <a:avLst/>
              <a:gdLst/>
              <a:ahLst/>
              <a:cxnLst/>
              <a:rect l="l" t="t" r="r" b="b"/>
              <a:pathLst>
                <a:path w="21750782" h="9164320">
                  <a:moveTo>
                    <a:pt x="0" y="54610"/>
                  </a:moveTo>
                  <a:cubicBezTo>
                    <a:pt x="0" y="24384"/>
                    <a:pt x="24511" y="0"/>
                    <a:pt x="54610" y="0"/>
                  </a:cubicBezTo>
                  <a:lnTo>
                    <a:pt x="21696172" y="0"/>
                  </a:lnTo>
                  <a:lnTo>
                    <a:pt x="21696172" y="6350"/>
                  </a:lnTo>
                  <a:lnTo>
                    <a:pt x="21696172" y="0"/>
                  </a:lnTo>
                  <a:cubicBezTo>
                    <a:pt x="21726271" y="0"/>
                    <a:pt x="21750782" y="24384"/>
                    <a:pt x="21750782" y="54610"/>
                  </a:cubicBezTo>
                  <a:lnTo>
                    <a:pt x="21744432" y="54610"/>
                  </a:lnTo>
                  <a:lnTo>
                    <a:pt x="21750782" y="54610"/>
                  </a:lnTo>
                  <a:lnTo>
                    <a:pt x="21750782" y="9109710"/>
                  </a:lnTo>
                  <a:lnTo>
                    <a:pt x="21744432" y="9109710"/>
                  </a:lnTo>
                  <a:lnTo>
                    <a:pt x="21750782" y="9109710"/>
                  </a:lnTo>
                  <a:cubicBezTo>
                    <a:pt x="21750782" y="9139809"/>
                    <a:pt x="21726271" y="9164320"/>
                    <a:pt x="21696172" y="9164320"/>
                  </a:cubicBezTo>
                  <a:lnTo>
                    <a:pt x="21696172" y="9157970"/>
                  </a:lnTo>
                  <a:lnTo>
                    <a:pt x="21696172" y="9164320"/>
                  </a:lnTo>
                  <a:lnTo>
                    <a:pt x="54610" y="9164320"/>
                  </a:lnTo>
                  <a:lnTo>
                    <a:pt x="54610" y="9157970"/>
                  </a:lnTo>
                  <a:lnTo>
                    <a:pt x="54610" y="9164320"/>
                  </a:lnTo>
                  <a:cubicBezTo>
                    <a:pt x="24511" y="9164320"/>
                    <a:pt x="0" y="9139936"/>
                    <a:pt x="0" y="9109710"/>
                  </a:cubicBezTo>
                  <a:lnTo>
                    <a:pt x="0" y="54610"/>
                  </a:lnTo>
                  <a:lnTo>
                    <a:pt x="6350" y="54610"/>
                  </a:lnTo>
                  <a:lnTo>
                    <a:pt x="0" y="54610"/>
                  </a:lnTo>
                  <a:moveTo>
                    <a:pt x="12700" y="54610"/>
                  </a:moveTo>
                  <a:lnTo>
                    <a:pt x="12700" y="9109710"/>
                  </a:lnTo>
                  <a:lnTo>
                    <a:pt x="6350" y="9109710"/>
                  </a:lnTo>
                  <a:lnTo>
                    <a:pt x="12700" y="9109710"/>
                  </a:lnTo>
                  <a:cubicBezTo>
                    <a:pt x="12700" y="9132824"/>
                    <a:pt x="31496" y="9151620"/>
                    <a:pt x="54610" y="9151620"/>
                  </a:cubicBezTo>
                  <a:lnTo>
                    <a:pt x="21696172" y="9151620"/>
                  </a:lnTo>
                  <a:cubicBezTo>
                    <a:pt x="21719285" y="9151620"/>
                    <a:pt x="21738082" y="9132824"/>
                    <a:pt x="21738082" y="9109710"/>
                  </a:cubicBezTo>
                  <a:lnTo>
                    <a:pt x="21738082" y="54610"/>
                  </a:lnTo>
                  <a:cubicBezTo>
                    <a:pt x="21738082" y="31496"/>
                    <a:pt x="21719285" y="12700"/>
                    <a:pt x="21696172" y="12700"/>
                  </a:cubicBezTo>
                  <a:lnTo>
                    <a:pt x="54610" y="12700"/>
                  </a:lnTo>
                  <a:lnTo>
                    <a:pt x="54610" y="6350"/>
                  </a:lnTo>
                  <a:lnTo>
                    <a:pt x="54610" y="12700"/>
                  </a:lnTo>
                  <a:cubicBezTo>
                    <a:pt x="31496" y="12700"/>
                    <a:pt x="12700" y="31496"/>
                    <a:pt x="12700" y="54610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01763" y="2596010"/>
            <a:ext cx="16284473" cy="621211"/>
            <a:chOff x="0" y="0"/>
            <a:chExt cx="21712631" cy="82828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712682" cy="828294"/>
            </a:xfrm>
            <a:custGeom>
              <a:avLst/>
              <a:gdLst/>
              <a:ahLst/>
              <a:cxnLst/>
              <a:rect l="l" t="t" r="r" b="b"/>
              <a:pathLst>
                <a:path w="21712682" h="828294">
                  <a:moveTo>
                    <a:pt x="0" y="0"/>
                  </a:moveTo>
                  <a:lnTo>
                    <a:pt x="21712682" y="0"/>
                  </a:lnTo>
                  <a:lnTo>
                    <a:pt x="21712682" y="828294"/>
                  </a:lnTo>
                  <a:lnTo>
                    <a:pt x="0" y="828294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243908" y="2680697"/>
            <a:ext cx="1141657" cy="404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 b="1">
                <a:solidFill>
                  <a:srgbClr val="2C2821"/>
                </a:solidFill>
                <a:latin typeface="Lora Bold"/>
                <a:ea typeface="Lora Bold"/>
                <a:cs typeface="Lora Bold"/>
                <a:sym typeface="Lora Bold"/>
              </a:rPr>
              <a:t>Age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876998" y="2680697"/>
            <a:ext cx="1136894" cy="404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 b="1">
                <a:solidFill>
                  <a:srgbClr val="2C2821"/>
                </a:solidFill>
                <a:latin typeface="Lora Bold"/>
                <a:ea typeface="Lora Bold"/>
                <a:cs typeface="Lora Bold"/>
                <a:sym typeface="Lora Bold"/>
              </a:rPr>
              <a:t>12th %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505325" y="2680697"/>
            <a:ext cx="1136894" cy="404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 b="1">
                <a:solidFill>
                  <a:srgbClr val="2C2821"/>
                </a:solidFill>
                <a:latin typeface="Lora Bold"/>
                <a:ea typeface="Lora Bold"/>
                <a:cs typeface="Lora Bold"/>
                <a:sym typeface="Lora Bold"/>
              </a:rPr>
              <a:t>Stream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133652" y="2680697"/>
            <a:ext cx="1136894" cy="404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 b="1">
                <a:solidFill>
                  <a:srgbClr val="2C2821"/>
                </a:solidFill>
                <a:latin typeface="Lora Bold"/>
                <a:ea typeface="Lora Bold"/>
                <a:cs typeface="Lora Bold"/>
                <a:sym typeface="Lora Bold"/>
              </a:rPr>
              <a:t>CGPA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761980" y="2680697"/>
            <a:ext cx="1136894" cy="404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 b="1">
                <a:solidFill>
                  <a:srgbClr val="2C2821"/>
                </a:solidFill>
                <a:latin typeface="Lora Bold"/>
                <a:ea typeface="Lora Bold"/>
                <a:cs typeface="Lora Bold"/>
                <a:sym typeface="Lora Bold"/>
              </a:rPr>
              <a:t>Interest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390307" y="2680697"/>
            <a:ext cx="1136894" cy="404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 b="1">
                <a:solidFill>
                  <a:srgbClr val="2C2821"/>
                </a:solidFill>
                <a:latin typeface="Lora Bold"/>
                <a:ea typeface="Lora Bold"/>
                <a:cs typeface="Lora Bold"/>
                <a:sym typeface="Lora Bold"/>
              </a:rPr>
              <a:t>Python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018634" y="2680697"/>
            <a:ext cx="1136894" cy="404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 b="1">
                <a:solidFill>
                  <a:srgbClr val="2C2821"/>
                </a:solidFill>
                <a:latin typeface="Lora Bold"/>
                <a:ea typeface="Lora Bold"/>
                <a:cs typeface="Lora Bold"/>
                <a:sym typeface="Lora Bold"/>
              </a:rPr>
              <a:t>Web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646971" y="2680697"/>
            <a:ext cx="1136894" cy="404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 b="1">
                <a:solidFill>
                  <a:srgbClr val="2C2821"/>
                </a:solidFill>
                <a:latin typeface="Lora Bold"/>
                <a:ea typeface="Lora Bold"/>
                <a:cs typeface="Lora Bold"/>
                <a:sym typeface="Lora Bold"/>
              </a:rPr>
              <a:t>Security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275298" y="2680697"/>
            <a:ext cx="1136894" cy="404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 b="1">
                <a:solidFill>
                  <a:srgbClr val="2C2821"/>
                </a:solidFill>
                <a:latin typeface="Lora Bold"/>
                <a:ea typeface="Lora Bold"/>
                <a:cs typeface="Lora Bold"/>
                <a:sym typeface="Lora Bold"/>
              </a:rPr>
              <a:t>Data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5903626" y="2680697"/>
            <a:ext cx="1141657" cy="404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 b="1">
                <a:solidFill>
                  <a:srgbClr val="2C2821"/>
                </a:solidFill>
                <a:latin typeface="Lora Bold"/>
                <a:ea typeface="Lora Bold"/>
                <a:cs typeface="Lora Bold"/>
                <a:sym typeface="Lora Bold"/>
              </a:rPr>
              <a:t>Career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001763" y="3217221"/>
            <a:ext cx="16284473" cy="977798"/>
            <a:chOff x="0" y="0"/>
            <a:chExt cx="21712631" cy="1303731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1712682" cy="1303782"/>
            </a:xfrm>
            <a:custGeom>
              <a:avLst/>
              <a:gdLst/>
              <a:ahLst/>
              <a:cxnLst/>
              <a:rect l="l" t="t" r="r" b="b"/>
              <a:pathLst>
                <a:path w="21712682" h="1303782">
                  <a:moveTo>
                    <a:pt x="0" y="0"/>
                  </a:moveTo>
                  <a:lnTo>
                    <a:pt x="21712682" y="0"/>
                  </a:lnTo>
                  <a:lnTo>
                    <a:pt x="21712682" y="1303782"/>
                  </a:lnTo>
                  <a:lnTo>
                    <a:pt x="0" y="13037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243908" y="3301898"/>
            <a:ext cx="1141657" cy="404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18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876998" y="3301898"/>
            <a:ext cx="1136894" cy="404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95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505325" y="3301898"/>
            <a:ext cx="1136894" cy="404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CSE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133652" y="3301898"/>
            <a:ext cx="1136894" cy="404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8.5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761980" y="3301898"/>
            <a:ext cx="1136894" cy="404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AI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390307" y="3301898"/>
            <a:ext cx="1136894" cy="404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1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018634" y="3301898"/>
            <a:ext cx="1136894" cy="404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0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646971" y="3301898"/>
            <a:ext cx="1136894" cy="404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0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4275298" y="3301898"/>
            <a:ext cx="1136894" cy="404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1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5903626" y="3301898"/>
            <a:ext cx="1141657" cy="7608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ML Engineer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1001763" y="4195020"/>
            <a:ext cx="16284473" cy="977798"/>
            <a:chOff x="0" y="0"/>
            <a:chExt cx="21712631" cy="1303731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1712682" cy="1303782"/>
            </a:xfrm>
            <a:custGeom>
              <a:avLst/>
              <a:gdLst/>
              <a:ahLst/>
              <a:cxnLst/>
              <a:rect l="l" t="t" r="r" b="b"/>
              <a:pathLst>
                <a:path w="21712682" h="1303782">
                  <a:moveTo>
                    <a:pt x="0" y="0"/>
                  </a:moveTo>
                  <a:lnTo>
                    <a:pt x="21712682" y="0"/>
                  </a:lnTo>
                  <a:lnTo>
                    <a:pt x="21712682" y="1303782"/>
                  </a:lnTo>
                  <a:lnTo>
                    <a:pt x="0" y="1303782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243908" y="4279697"/>
            <a:ext cx="1141657" cy="404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19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876998" y="4279697"/>
            <a:ext cx="1136894" cy="404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90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505325" y="4279697"/>
            <a:ext cx="1136894" cy="404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CSE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133652" y="4279697"/>
            <a:ext cx="1136894" cy="404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8.2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761980" y="4279697"/>
            <a:ext cx="1136894" cy="404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AI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390307" y="4279697"/>
            <a:ext cx="1136894" cy="404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1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018634" y="4279697"/>
            <a:ext cx="1136894" cy="404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0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2646971" y="4279697"/>
            <a:ext cx="1136894" cy="404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0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4275298" y="4279697"/>
            <a:ext cx="1136894" cy="404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1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5903626" y="4279697"/>
            <a:ext cx="1141657" cy="7608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AI Engineer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1001763" y="5172818"/>
            <a:ext cx="16284473" cy="977798"/>
            <a:chOff x="0" y="0"/>
            <a:chExt cx="21712631" cy="1303731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21712682" cy="1303782"/>
            </a:xfrm>
            <a:custGeom>
              <a:avLst/>
              <a:gdLst/>
              <a:ahLst/>
              <a:cxnLst/>
              <a:rect l="l" t="t" r="r" b="b"/>
              <a:pathLst>
                <a:path w="21712682" h="1303782">
                  <a:moveTo>
                    <a:pt x="0" y="0"/>
                  </a:moveTo>
                  <a:lnTo>
                    <a:pt x="21712682" y="0"/>
                  </a:lnTo>
                  <a:lnTo>
                    <a:pt x="21712682" y="1303782"/>
                  </a:lnTo>
                  <a:lnTo>
                    <a:pt x="0" y="13037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1243908" y="5257505"/>
            <a:ext cx="1141657" cy="404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20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2876998" y="5257505"/>
            <a:ext cx="1136894" cy="404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85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4505325" y="5257505"/>
            <a:ext cx="1136894" cy="404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IT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133652" y="5257505"/>
            <a:ext cx="1136894" cy="404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7.5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7761980" y="5257505"/>
            <a:ext cx="1136894" cy="7608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Development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9390307" y="5257505"/>
            <a:ext cx="1136894" cy="404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1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1018634" y="5257505"/>
            <a:ext cx="1136894" cy="404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1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2646971" y="5257505"/>
            <a:ext cx="1136894" cy="404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0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4275298" y="5257505"/>
            <a:ext cx="1136894" cy="404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0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5903626" y="5257505"/>
            <a:ext cx="1141657" cy="7608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Software Engineer</a:t>
            </a:r>
          </a:p>
        </p:txBody>
      </p:sp>
      <p:grpSp>
        <p:nvGrpSpPr>
          <p:cNvPr id="58" name="Group 58"/>
          <p:cNvGrpSpPr/>
          <p:nvPr/>
        </p:nvGrpSpPr>
        <p:grpSpPr>
          <a:xfrm>
            <a:off x="1001763" y="6150616"/>
            <a:ext cx="16284473" cy="1334395"/>
            <a:chOff x="0" y="0"/>
            <a:chExt cx="21712631" cy="1779194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21712682" cy="1779143"/>
            </a:xfrm>
            <a:custGeom>
              <a:avLst/>
              <a:gdLst/>
              <a:ahLst/>
              <a:cxnLst/>
              <a:rect l="l" t="t" r="r" b="b"/>
              <a:pathLst>
                <a:path w="21712682" h="1779143">
                  <a:moveTo>
                    <a:pt x="0" y="0"/>
                  </a:moveTo>
                  <a:lnTo>
                    <a:pt x="21712682" y="0"/>
                  </a:lnTo>
                  <a:lnTo>
                    <a:pt x="21712682" y="1779143"/>
                  </a:lnTo>
                  <a:lnTo>
                    <a:pt x="0" y="1779143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0" name="TextBox 60"/>
          <p:cNvSpPr txBox="1"/>
          <p:nvPr/>
        </p:nvSpPr>
        <p:spPr>
          <a:xfrm>
            <a:off x="1243908" y="6235303"/>
            <a:ext cx="1141657" cy="404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20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2876998" y="6235303"/>
            <a:ext cx="1136894" cy="404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82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4505325" y="6235303"/>
            <a:ext cx="1136894" cy="404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CSE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6133652" y="6235303"/>
            <a:ext cx="1136894" cy="404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7.8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7761980" y="6235303"/>
            <a:ext cx="1136894" cy="404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Security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9390307" y="6235303"/>
            <a:ext cx="1136894" cy="404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0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1018634" y="6235303"/>
            <a:ext cx="1136894" cy="404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0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2646971" y="6235303"/>
            <a:ext cx="1136894" cy="404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1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4275298" y="6235303"/>
            <a:ext cx="1136894" cy="404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0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5903626" y="6235303"/>
            <a:ext cx="1141657" cy="1117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Cyber Security Analyst</a:t>
            </a:r>
          </a:p>
        </p:txBody>
      </p:sp>
      <p:grpSp>
        <p:nvGrpSpPr>
          <p:cNvPr id="70" name="Group 70"/>
          <p:cNvGrpSpPr/>
          <p:nvPr/>
        </p:nvGrpSpPr>
        <p:grpSpPr>
          <a:xfrm>
            <a:off x="1001763" y="7485012"/>
            <a:ext cx="16284473" cy="977798"/>
            <a:chOff x="0" y="0"/>
            <a:chExt cx="21712631" cy="1303731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21712682" cy="1303782"/>
            </a:xfrm>
            <a:custGeom>
              <a:avLst/>
              <a:gdLst/>
              <a:ahLst/>
              <a:cxnLst/>
              <a:rect l="l" t="t" r="r" b="b"/>
              <a:pathLst>
                <a:path w="21712682" h="1303782">
                  <a:moveTo>
                    <a:pt x="0" y="0"/>
                  </a:moveTo>
                  <a:lnTo>
                    <a:pt x="21712682" y="0"/>
                  </a:lnTo>
                  <a:lnTo>
                    <a:pt x="21712682" y="1303782"/>
                  </a:lnTo>
                  <a:lnTo>
                    <a:pt x="0" y="13037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2" name="TextBox 72"/>
          <p:cNvSpPr txBox="1"/>
          <p:nvPr/>
        </p:nvSpPr>
        <p:spPr>
          <a:xfrm>
            <a:off x="1243908" y="7569698"/>
            <a:ext cx="1141657" cy="404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21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2876998" y="7569698"/>
            <a:ext cx="1136894" cy="404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84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4505325" y="7569698"/>
            <a:ext cx="1136894" cy="404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IT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6133652" y="7569698"/>
            <a:ext cx="1136894" cy="404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7.9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7761980" y="7569698"/>
            <a:ext cx="1136894" cy="404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DevOps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9390307" y="7569698"/>
            <a:ext cx="1136894" cy="404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1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11018634" y="7569698"/>
            <a:ext cx="1136894" cy="404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0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12646971" y="7569698"/>
            <a:ext cx="1136894" cy="404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0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14275298" y="7569698"/>
            <a:ext cx="1136894" cy="404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0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15903626" y="7569698"/>
            <a:ext cx="1141657" cy="7608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Cloud Engineer</a:t>
            </a:r>
          </a:p>
        </p:txBody>
      </p:sp>
      <p:grpSp>
        <p:nvGrpSpPr>
          <p:cNvPr id="82" name="Group 82"/>
          <p:cNvGrpSpPr/>
          <p:nvPr/>
        </p:nvGrpSpPr>
        <p:grpSpPr>
          <a:xfrm>
            <a:off x="1001763" y="8462810"/>
            <a:ext cx="16284473" cy="977798"/>
            <a:chOff x="0" y="0"/>
            <a:chExt cx="21712631" cy="1303731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21712682" cy="1303782"/>
            </a:xfrm>
            <a:custGeom>
              <a:avLst/>
              <a:gdLst/>
              <a:ahLst/>
              <a:cxnLst/>
              <a:rect l="l" t="t" r="r" b="b"/>
              <a:pathLst>
                <a:path w="21712682" h="1303782">
                  <a:moveTo>
                    <a:pt x="0" y="0"/>
                  </a:moveTo>
                  <a:lnTo>
                    <a:pt x="21712682" y="0"/>
                  </a:lnTo>
                  <a:lnTo>
                    <a:pt x="21712682" y="1303782"/>
                  </a:lnTo>
                  <a:lnTo>
                    <a:pt x="0" y="1303782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4" name="TextBox 84"/>
          <p:cNvSpPr txBox="1"/>
          <p:nvPr/>
        </p:nvSpPr>
        <p:spPr>
          <a:xfrm>
            <a:off x="1243908" y="8547497"/>
            <a:ext cx="1141657" cy="404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22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2876998" y="8547497"/>
            <a:ext cx="1136894" cy="404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83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4505325" y="8547497"/>
            <a:ext cx="1136894" cy="404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ECE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6133652" y="8547497"/>
            <a:ext cx="1136894" cy="404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7.6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7761980" y="8547497"/>
            <a:ext cx="1136894" cy="404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Robotics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9390307" y="8547497"/>
            <a:ext cx="1136894" cy="404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1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11018634" y="8547497"/>
            <a:ext cx="1136894" cy="404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0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12646971" y="8547497"/>
            <a:ext cx="1136894" cy="404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0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14275298" y="8547497"/>
            <a:ext cx="1136894" cy="404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0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15903626" y="8547497"/>
            <a:ext cx="1141657" cy="7608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Robotics Engineer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1F2DE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CFBF8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17918" y="534200"/>
            <a:ext cx="7088238" cy="1028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4687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Advantages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60120" y="2331720"/>
            <a:ext cx="7162800" cy="2524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1625" lvl="1" indent="-150812" algn="l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Helps students choose the right career</a:t>
            </a:r>
          </a:p>
          <a:p>
            <a:pPr marL="301625" lvl="1" indent="-150812" algn="l">
              <a:lnSpc>
                <a:spcPts val="2400"/>
              </a:lnSpc>
            </a:pPr>
            <a:endParaRPr lang="en-US" sz="2000">
              <a:solidFill>
                <a:srgbClr val="2C2821"/>
              </a:solidFill>
              <a:latin typeface="Lora"/>
              <a:ea typeface="Lora"/>
              <a:cs typeface="Lora"/>
              <a:sym typeface="Lora"/>
            </a:endParaRPr>
          </a:p>
          <a:p>
            <a:pPr marL="301625" lvl="1" indent="-150812" algn="l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Easy to use</a:t>
            </a:r>
          </a:p>
          <a:p>
            <a:pPr marL="301625" lvl="1" indent="-150812" algn="l">
              <a:lnSpc>
                <a:spcPts val="2400"/>
              </a:lnSpc>
            </a:pPr>
            <a:endParaRPr lang="en-US" sz="2000">
              <a:solidFill>
                <a:srgbClr val="2C2821"/>
              </a:solidFill>
              <a:latin typeface="Lora"/>
              <a:ea typeface="Lora"/>
              <a:cs typeface="Lora"/>
              <a:sym typeface="Lora"/>
            </a:endParaRPr>
          </a:p>
          <a:p>
            <a:pPr marL="301625" lvl="1" indent="-150812" algn="l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Instant recommendations</a:t>
            </a:r>
          </a:p>
          <a:p>
            <a:pPr marL="301625" lvl="1" indent="-150812" algn="l">
              <a:lnSpc>
                <a:spcPts val="2400"/>
              </a:lnSpc>
            </a:pPr>
            <a:endParaRPr lang="en-US" sz="2000">
              <a:solidFill>
                <a:srgbClr val="2C2821"/>
              </a:solidFill>
              <a:latin typeface="Lora"/>
              <a:ea typeface="Lora"/>
              <a:cs typeface="Lora"/>
              <a:sym typeface="Lora"/>
            </a:endParaRPr>
          </a:p>
          <a:p>
            <a:pPr marL="301625" lvl="1" indent="-150812" algn="l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Supports multiple technology fields</a:t>
            </a:r>
          </a:p>
          <a:p>
            <a:pPr marL="301625" lvl="1" indent="-150812" algn="l">
              <a:lnSpc>
                <a:spcPts val="2400"/>
              </a:lnSpc>
            </a:pPr>
            <a:endParaRPr lang="en-US" sz="2000">
              <a:solidFill>
                <a:srgbClr val="2C2821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1F2DE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CFBF8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01647" y="211245"/>
            <a:ext cx="3942426" cy="802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4999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Limitations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43233" y="1504026"/>
            <a:ext cx="10064706" cy="7141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1625" lvl="1" indent="-150812" algn="l">
              <a:lnSpc>
                <a:spcPts val="2400"/>
              </a:lnSpc>
              <a:buFont typeface="Arial"/>
              <a:buChar char="•"/>
            </a:pPr>
            <a:r>
              <a:rPr lang="en-US" sz="2000" dirty="0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Fixed Career Options</a:t>
            </a:r>
          </a:p>
          <a:p>
            <a:pPr marL="301625" lvl="1" indent="-150812" algn="l">
              <a:lnSpc>
                <a:spcPts val="2400"/>
              </a:lnSpc>
            </a:pPr>
            <a:r>
              <a:rPr lang="en-US" sz="2000" dirty="0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It can suggest only a few careers. New or trending jobs are not included. </a:t>
            </a:r>
          </a:p>
          <a:p>
            <a:pPr marL="301625" lvl="1" indent="-150812" algn="l">
              <a:lnSpc>
                <a:spcPts val="2400"/>
              </a:lnSpc>
            </a:pPr>
            <a:endParaRPr lang="en-US" sz="2000" dirty="0">
              <a:solidFill>
                <a:srgbClr val="2C2821"/>
              </a:solidFill>
              <a:latin typeface="Lora"/>
              <a:ea typeface="Lora"/>
              <a:cs typeface="Lora"/>
              <a:sym typeface="Lora"/>
            </a:endParaRPr>
          </a:p>
          <a:p>
            <a:pPr marL="301625" lvl="1" indent="-150812" algn="l">
              <a:lnSpc>
                <a:spcPts val="2400"/>
              </a:lnSpc>
              <a:buFont typeface="Arial"/>
              <a:buChar char="•"/>
            </a:pPr>
            <a:r>
              <a:rPr lang="en-US" sz="2000" dirty="0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No Updates</a:t>
            </a:r>
          </a:p>
          <a:p>
            <a:pPr marL="301625" lvl="1" indent="-150812" algn="l">
              <a:lnSpc>
                <a:spcPts val="2400"/>
              </a:lnSpc>
            </a:pPr>
            <a:r>
              <a:rPr lang="en-US" sz="2000" dirty="0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The system does not learn from new data or changing job trends. It stays the same. </a:t>
            </a:r>
          </a:p>
          <a:p>
            <a:pPr marL="301625" lvl="1" indent="-150812" algn="l">
              <a:lnSpc>
                <a:spcPts val="2400"/>
              </a:lnSpc>
            </a:pPr>
            <a:endParaRPr lang="en-US" sz="2000" dirty="0">
              <a:solidFill>
                <a:srgbClr val="2C2821"/>
              </a:solidFill>
              <a:latin typeface="Lora"/>
              <a:ea typeface="Lora"/>
              <a:cs typeface="Lora"/>
              <a:sym typeface="Lora"/>
            </a:endParaRPr>
          </a:p>
          <a:p>
            <a:pPr marL="301625" lvl="1" indent="-150812" algn="l">
              <a:lnSpc>
                <a:spcPts val="2400"/>
              </a:lnSpc>
              <a:buFont typeface="Arial"/>
              <a:buChar char="•"/>
            </a:pPr>
            <a:r>
              <a:rPr lang="en-US" sz="2000" dirty="0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Decision Tree Issues</a:t>
            </a:r>
          </a:p>
          <a:p>
            <a:pPr marL="301625" lvl="1" indent="-150812" algn="l">
              <a:lnSpc>
                <a:spcPts val="2400"/>
              </a:lnSpc>
            </a:pPr>
            <a:r>
              <a:rPr lang="en-US" sz="2000" dirty="0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The algorithm may: </a:t>
            </a:r>
          </a:p>
          <a:p>
            <a:pPr marL="301625" lvl="1" indent="-150812" algn="l">
              <a:lnSpc>
                <a:spcPts val="2400"/>
              </a:lnSpc>
            </a:pPr>
            <a:r>
              <a:rPr lang="en-US" sz="2000" dirty="0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     Memorize data (overfitting) </a:t>
            </a:r>
          </a:p>
          <a:p>
            <a:pPr marL="301625" lvl="1" indent="-150812" algn="l">
              <a:lnSpc>
                <a:spcPts val="2400"/>
              </a:lnSpc>
            </a:pPr>
            <a:r>
              <a:rPr lang="en-US" sz="2000" dirty="0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     Miss complex patterns </a:t>
            </a:r>
          </a:p>
          <a:p>
            <a:pPr marL="301625" lvl="1" indent="-150812" algn="l">
              <a:lnSpc>
                <a:spcPts val="2400"/>
              </a:lnSpc>
            </a:pPr>
            <a:endParaRPr lang="en-US" sz="2000" dirty="0">
              <a:solidFill>
                <a:srgbClr val="2C2821"/>
              </a:solidFill>
              <a:latin typeface="Lora"/>
              <a:ea typeface="Lora"/>
              <a:cs typeface="Lora"/>
              <a:sym typeface="Lora"/>
            </a:endParaRPr>
          </a:p>
          <a:p>
            <a:pPr marL="301625" lvl="1" indent="-150812" algn="l">
              <a:lnSpc>
                <a:spcPts val="2400"/>
              </a:lnSpc>
              <a:buFont typeface="Arial"/>
              <a:buChar char="•"/>
            </a:pPr>
            <a:r>
              <a:rPr lang="en-US" sz="2000" dirty="0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No Personalization</a:t>
            </a:r>
          </a:p>
          <a:p>
            <a:pPr marL="301625" lvl="1" indent="-150812" algn="l">
              <a:lnSpc>
                <a:spcPts val="2400"/>
              </a:lnSpc>
            </a:pPr>
            <a:r>
              <a:rPr lang="en-US" sz="2000" dirty="0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It gives only one-time suggestions. It does not improve based on user feedback.</a:t>
            </a:r>
          </a:p>
          <a:p>
            <a:pPr marL="301625" lvl="1" indent="-150812" algn="l">
              <a:lnSpc>
                <a:spcPts val="2400"/>
              </a:lnSpc>
            </a:pPr>
            <a:endParaRPr lang="en-US" sz="2000" dirty="0">
              <a:solidFill>
                <a:srgbClr val="2C2821"/>
              </a:solidFill>
              <a:latin typeface="Lora"/>
              <a:ea typeface="Lora"/>
              <a:cs typeface="Lora"/>
              <a:sym typeface="Lora"/>
            </a:endParaRPr>
          </a:p>
          <a:p>
            <a:pPr marL="301625" lvl="1" indent="-150812" algn="l">
              <a:lnSpc>
                <a:spcPts val="2400"/>
              </a:lnSpc>
            </a:pPr>
            <a:r>
              <a:rPr lang="en-US" sz="2000" dirty="0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 </a:t>
            </a:r>
          </a:p>
          <a:p>
            <a:pPr marL="301625" lvl="1" indent="-150812" algn="l">
              <a:lnSpc>
                <a:spcPts val="2400"/>
              </a:lnSpc>
              <a:buFont typeface="Arial"/>
              <a:buChar char="•"/>
            </a:pPr>
            <a:r>
              <a:rPr lang="en-US" sz="2000" dirty="0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Low Accuracy</a:t>
            </a:r>
          </a:p>
          <a:p>
            <a:pPr marL="301625" lvl="1" indent="-150812" algn="l">
              <a:lnSpc>
                <a:spcPts val="2400"/>
              </a:lnSpc>
            </a:pPr>
            <a:r>
              <a:rPr lang="en-US" sz="2000" dirty="0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Because of less data, predictions may not be reliable. </a:t>
            </a:r>
          </a:p>
          <a:p>
            <a:pPr marL="301625" lvl="1" indent="-150812" algn="l">
              <a:lnSpc>
                <a:spcPts val="2400"/>
              </a:lnSpc>
            </a:pPr>
            <a:endParaRPr lang="en-US" sz="2000" dirty="0">
              <a:solidFill>
                <a:srgbClr val="2C2821"/>
              </a:solidFill>
              <a:latin typeface="Lora"/>
              <a:ea typeface="Lora"/>
              <a:cs typeface="Lora"/>
              <a:sym typeface="Lora"/>
            </a:endParaRPr>
          </a:p>
          <a:p>
            <a:pPr marL="301625" lvl="1" indent="-150812" algn="l">
              <a:lnSpc>
                <a:spcPts val="2400"/>
              </a:lnSpc>
            </a:pPr>
            <a:endParaRPr lang="en-US" sz="2000" dirty="0">
              <a:solidFill>
                <a:srgbClr val="2C2821"/>
              </a:solidFill>
              <a:latin typeface="Lora"/>
              <a:ea typeface="Lora"/>
              <a:cs typeface="Lora"/>
              <a:sym typeface="Lora"/>
            </a:endParaRPr>
          </a:p>
          <a:p>
            <a:pPr marL="301625" lvl="1" indent="-150812" algn="l">
              <a:lnSpc>
                <a:spcPts val="2400"/>
              </a:lnSpc>
              <a:buFont typeface="Arial"/>
              <a:buChar char="•"/>
            </a:pPr>
            <a:r>
              <a:rPr lang="en-US" sz="2000" dirty="0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No Job Market Check</a:t>
            </a:r>
          </a:p>
          <a:p>
            <a:pPr marL="301625" lvl="1" indent="-150812" algn="l">
              <a:lnSpc>
                <a:spcPts val="2400"/>
              </a:lnSpc>
            </a:pPr>
            <a:r>
              <a:rPr lang="en-US" sz="2000" dirty="0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It does not consider demand, salary, or job availability. </a:t>
            </a:r>
          </a:p>
          <a:p>
            <a:pPr marL="301625" lvl="1" indent="-150812" algn="l">
              <a:lnSpc>
                <a:spcPts val="2400"/>
              </a:lnSpc>
            </a:pPr>
            <a:endParaRPr lang="en-US" sz="2000" dirty="0">
              <a:solidFill>
                <a:srgbClr val="2C2821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1F2DE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CFBF8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996440" y="3319129"/>
            <a:ext cx="7178040" cy="417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24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LINK2:</a:t>
            </a:r>
            <a:r>
              <a:rPr lang="en-US" sz="2249" u="sng" dirty="0">
                <a:solidFill>
                  <a:srgbClr val="0563C1"/>
                </a:solidFill>
                <a:latin typeface="Calibri (MS)"/>
                <a:ea typeface="Calibri (MS)"/>
                <a:cs typeface="Calibri (MS)"/>
                <a:sym typeface="Calibri (MS)"/>
                <a:hlinkClick r:id="rId2" tooltip="https://euphonious-snickerdoodle-930e8b.netlify.app/"/>
              </a:rPr>
              <a:t>https://euphonious-snickerdoodle-930e8b.netlify.app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73480" y="697230"/>
            <a:ext cx="7178040" cy="764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24"/>
              </a:lnSpc>
            </a:pPr>
            <a:r>
              <a:rPr lang="en-US" sz="4687">
                <a:solidFill>
                  <a:srgbClr val="233E32"/>
                </a:solidFill>
                <a:latin typeface="Alice"/>
                <a:ea typeface="Alice"/>
                <a:cs typeface="Alice"/>
                <a:sym typeface="Alice"/>
              </a:rPr>
              <a:t>Live System Access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996440" y="2026920"/>
            <a:ext cx="6827520" cy="947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1625" lvl="1" indent="-150812" algn="l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AI Career Guidance System is deployed online.</a:t>
            </a:r>
          </a:p>
          <a:p>
            <a:pPr marL="301625" lvl="1" indent="-150812" algn="l">
              <a:lnSpc>
                <a:spcPts val="2400"/>
              </a:lnSpc>
            </a:pPr>
            <a:endParaRPr lang="en-US" sz="2000">
              <a:solidFill>
                <a:srgbClr val="2C2821"/>
              </a:solidFill>
              <a:latin typeface="Lora"/>
              <a:ea typeface="Lora"/>
              <a:cs typeface="Lora"/>
              <a:sym typeface="Lora"/>
            </a:endParaRPr>
          </a:p>
          <a:p>
            <a:pPr marL="301625" lvl="1" indent="-150812" algn="l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2C2821"/>
                </a:solidFill>
                <a:latin typeface="Lora"/>
                <a:ea typeface="Lora"/>
                <a:cs typeface="Lora"/>
                <a:sym typeface="Lora"/>
              </a:rPr>
              <a:t>Users can access the system through the link below.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D6DC51B-3E19-E4B3-893B-933BE2D179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7400" y="4914900"/>
            <a:ext cx="3574916" cy="247259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1F2DE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CFBF8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515600" y="6365024"/>
            <a:ext cx="4663440" cy="13305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99"/>
              </a:lnSpc>
            </a:pPr>
            <a:r>
              <a:rPr lang="en-US" sz="7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873</Words>
  <Application>Microsoft Office PowerPoint</Application>
  <PresentationFormat>Custom</PresentationFormat>
  <Paragraphs>217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Alice</vt:lpstr>
      <vt:lpstr>Lora Bold</vt:lpstr>
      <vt:lpstr>Calibri (MS)</vt:lpstr>
      <vt:lpstr>Calibri</vt:lpstr>
      <vt:lpstr>Arial</vt:lpstr>
      <vt:lpstr>Lora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Dell</dc:creator>
  <cp:lastModifiedBy>KOTA SAI KRUTHIC</cp:lastModifiedBy>
  <cp:revision>4</cp:revision>
  <dcterms:created xsi:type="dcterms:W3CDTF">2006-08-16T00:00:00Z</dcterms:created>
  <dcterms:modified xsi:type="dcterms:W3CDTF">2026-03-30T06:54:58Z</dcterms:modified>
  <dc:identifier>DAHFUUmP5Xk</dc:identifier>
</cp:coreProperties>
</file>